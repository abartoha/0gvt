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7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2F5597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277E-291E-702D-1651-A7EDC0086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29D46-AC90-CCC8-B388-F91B8A7BD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AB582-1776-6D6E-1821-5133AFED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658CE-0940-0150-59A0-185F6DD5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595E3-1607-CE3B-7D66-13B179A7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4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5D4F9-CB1A-F84F-BE2E-2A90179B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40A29-FE0C-223E-6E44-D01FC4CD3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5BE2-E57F-8C0A-0BE4-3962FF5C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6DE8F-7E3C-5614-D27A-C4A0F24A5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86461-3839-C714-75FE-B7FA9AF2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5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C6ED7-3608-657C-1B4B-1F315193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FAF9B-3E50-6D52-A099-BF0B800D9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DA98B-C13E-62D3-0ECC-2EBD8222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D1EAA-A257-0E61-B985-4AE2D92E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99455-9D84-7060-9B00-1E9AF5B2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5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CBE0-7425-8D3A-20C1-82819F6F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B4135-D32B-1221-3074-2F4FC4577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94BA9-4300-33CE-6EC6-EB8DA2AF6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27D56-FCA1-90B0-DD16-16098F05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4E5D0-94CC-34CC-7648-3E80F81E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33AEC-DF29-84D8-A8D6-E317C985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7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E7A1-8018-4271-BCF1-A792EF77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7E0A9-BD98-EE29-337F-CF7D03476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A6CB7-A3F5-6FFB-8C2A-5EE61C05D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BA519-B22A-B996-B6DA-3C2DE9F57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25DEF-4A0B-B057-6BC6-8AA73BF8B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3E823-493C-F767-6B79-EA865737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904B-885B-EA49-BFC8-83014FB7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CF714-9E39-C8D9-51C7-2978C74BC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9F38-0170-6D9D-55CE-B6201A96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69009-C891-6F2A-CB3E-12E3CD08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DD86B-8454-5673-8E3A-2A21D1CB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A3982F-9FEE-436E-308E-656B71B19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05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04765-511D-A604-A086-5A9A2BCA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C65D7-1B9A-10D9-851E-51044966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3E4BA-A406-C604-224E-D69F55F7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92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DEF9-F780-1B70-DD4D-C30910C6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0274A-33E0-33EF-AF9B-8A324C203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E30E8-9200-D60B-69F7-F8E851BA7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023A9-A0DD-DA07-667C-B54EAFD5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57168-26B1-33C1-DD36-1E61C4DB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05EC8-F1E3-A81F-16ED-92E95F16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7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7441-11D1-1A75-A42F-3B72E3A7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789E45-9F53-5783-8940-53930F699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F3F32-FC8E-2F5C-3C01-40B9C6D3C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19DFF-C620-9543-2763-F6C96371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E741B-19D3-33F2-992B-4E944087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9B748-9C98-00A2-8883-961C80FE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9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AA7CE-FF87-7D77-6260-A8ADC9B3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94607-95C7-545A-7DB4-4988D6997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99C3-F164-CF51-9F23-58A4B8011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AF005-C9D5-795B-8EC6-D12C3371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0CFB-F3FA-58BF-2D71-31738C6A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4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7399F-5BA7-DEF6-1BAD-5618B3F8B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4CBB4-AEDC-A40A-1FC6-BCDBA7DD1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FCE4A-AD7E-F45F-8B04-D4528F75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9CD4-3B55-997D-97E1-E8C5B5E5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BE281-1949-4CB3-47C4-EA464B8C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3F4C0-94D0-C578-F3B0-A61BCEDF8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8008D-A70F-C7F1-EF46-FBC8E1F3E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9391F-E48A-C363-FE58-83A73C13A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98483-CC05-4592-BB77-D9D1E6EE8F1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A0767-C059-B651-9AA2-1840DC23D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C9D1-2A2C-7AEE-C284-AF4B7F7C2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51C36-35DC-4C37-AE3A-A4B55EFF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6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FB2BA3-BBEE-907E-5CA9-6F5CC180AE9E}"/>
              </a:ext>
            </a:extLst>
          </p:cNvPr>
          <p:cNvCxnSpPr/>
          <p:nvPr/>
        </p:nvCxnSpPr>
        <p:spPr>
          <a:xfrm>
            <a:off x="339212" y="3428999"/>
            <a:ext cx="11513574" cy="0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8574E1-81B1-23A7-6A74-C423DD4F00F9}"/>
              </a:ext>
            </a:extLst>
          </p:cNvPr>
          <p:cNvCxnSpPr/>
          <p:nvPr/>
        </p:nvCxnSpPr>
        <p:spPr>
          <a:xfrm>
            <a:off x="6095999" y="149941"/>
            <a:ext cx="0" cy="6558116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122FD3-5751-B59A-ABA2-62098CB36FEB}"/>
              </a:ext>
            </a:extLst>
          </p:cNvPr>
          <p:cNvSpPr txBox="1"/>
          <p:nvPr/>
        </p:nvSpPr>
        <p:spPr>
          <a:xfrm>
            <a:off x="503903" y="245563"/>
            <a:ext cx="542740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VISION &amp; APPROACH 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Vision: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establish the first commercially viable orbital tourism station with integrated space agriculture research, providing continuous LEO access post-ISS while advancing sustainable space habitation technology.</a:t>
            </a:r>
          </a:p>
          <a:p>
            <a:pPr rtl="0">
              <a:buNone/>
            </a:pPr>
            <a:endParaRPr lang="en-US" sz="1100" b="0" dirty="0">
              <a:effectLst/>
            </a:endParaRPr>
          </a:p>
          <a:p>
            <a:pPr rtl="0">
              <a:buNone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Approach:</a:t>
            </a:r>
            <a:endParaRPr lang="en-US" sz="1100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Build modular 3D-expandable station using novel polyhedral hub connector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Launch on Falcon 9 (8 launches), assemble in orbit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Dual revenue model: premium tourism ($4.5M/person) + government research contracts ($43M/year)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Path to profitability with Starship economics (2027+)</a:t>
            </a:r>
          </a:p>
          <a:p>
            <a:pPr rtl="0" fontAlgn="base"/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Key Differentiators:</a:t>
            </a:r>
            <a:endParaRPr lang="en-US" sz="1100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True 3D modular expansion (not linear like ISS or planar like traditional concepts)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Fits within Falcon 9 fairing constraints (3 modules per launch)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Integrated space agriculture research platform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92% cheaper than Axiom Space ($4.5M vs $55M per tourist)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813DC3-0485-6EB3-D5DF-A1DD19FCBB33}"/>
              </a:ext>
            </a:extLst>
          </p:cNvPr>
          <p:cNvSpPr txBox="1"/>
          <p:nvPr/>
        </p:nvSpPr>
        <p:spPr>
          <a:xfrm>
            <a:off x="503903" y="3464243"/>
            <a:ext cx="6096000" cy="339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WORK SCOPE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Key Expertise:</a:t>
            </a:r>
            <a:endParaRPr lang="en-US" sz="105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Modular spacecraft architecture design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Space agriculture systems engineering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LEO commercialization and tourism operations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Financial modeling and business strategy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05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Technical Approach:</a:t>
            </a:r>
            <a:endParaRPr lang="en-US" sz="105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Market-driven requirements definition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NASA-proven technology (minimize development risk)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Modular design for scalability and flexibility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Government-commercial hybrid business model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05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Innovation Focus:</a:t>
            </a:r>
            <a:endParaRPr lang="en-US" sz="105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Novel 3D polyhedral hub connector (enables true omnidirectional expansion)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Integrated aeroponic agriculture system for Mars mission research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Optimized for current launch vehicle economics with Starship transition plan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D25B80-D09A-CCB2-BAAE-C333CCFC4384}"/>
              </a:ext>
            </a:extLst>
          </p:cNvPr>
          <p:cNvSpPr txBox="1"/>
          <p:nvPr/>
        </p:nvSpPr>
        <p:spPr>
          <a:xfrm>
            <a:off x="6262366" y="3503893"/>
            <a:ext cx="60943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SCHEDULE 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Development Timeline:</a:t>
            </a:r>
            <a:endParaRPr lang="en-US" sz="10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9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1: Design &amp; Funding (2026-2027)</a:t>
            </a:r>
            <a:endParaRPr lang="en-US" sz="1200" b="0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2: Manufacturing (2027-2029)</a:t>
            </a:r>
            <a:endParaRPr lang="en-US" sz="1200" b="0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3: Launch &amp; Assembly (2029-2030)</a:t>
            </a:r>
            <a:endParaRPr lang="en-US" sz="1200" b="0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4: Operations Start (2030-2031)</a:t>
            </a:r>
            <a:endParaRPr lang="en-US" sz="1200" b="0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5: Scale &amp; Optimize (2031-2036)</a:t>
            </a:r>
            <a:endParaRPr lang="en-US" sz="1200" b="0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Key Milestones: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30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✓ Concept Definition (Current - 2025)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Preliminary Design Review (Q2 2026)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Critical Design Review (Q4 2027)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 Launch (Q1 2029)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 Tourist Mission (Q3 2030)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Break-Even Operations (2032-2034 with Starship)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49E7E9-3F29-DA7A-E028-8748D420A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491" y="611607"/>
            <a:ext cx="5668294" cy="27424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1AEE77-9170-6E16-0651-A54A0A5FCCEC}"/>
              </a:ext>
            </a:extLst>
          </p:cNvPr>
          <p:cNvSpPr txBox="1"/>
          <p:nvPr/>
        </p:nvSpPr>
        <p:spPr>
          <a:xfrm>
            <a:off x="6260690" y="149941"/>
            <a:ext cx="6179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b="1" dirty="0">
                <a:solidFill>
                  <a:srgbClr val="666666"/>
                </a:solidFill>
              </a:rPr>
              <a:t>CONCEPT IMAGE</a:t>
            </a:r>
            <a:endParaRPr lang="en-US" sz="2400" b="1" dirty="0">
              <a:solidFill>
                <a:srgbClr val="6666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670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A7A537F3-8D99-09BD-0B99-44E9C828D1DD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C7165E96-AD76-085B-EAF1-3C3DDE43CD75}"/>
              </a:ext>
            </a:extLst>
          </p:cNvPr>
          <p:cNvSpPr/>
          <p:nvPr/>
        </p:nvSpPr>
        <p:spPr>
          <a:xfrm>
            <a:off x="1021976" y="579452"/>
            <a:ext cx="5614798" cy="1008473"/>
          </a:xfrm>
          <a:prstGeom prst="parallelogram">
            <a:avLst>
              <a:gd name="adj" fmla="val 619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Executive Summary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1990225-32D5-1212-049B-6C8906656A17}"/>
              </a:ext>
            </a:extLst>
          </p:cNvPr>
          <p:cNvSpPr/>
          <p:nvPr/>
        </p:nvSpPr>
        <p:spPr>
          <a:xfrm>
            <a:off x="0" y="5134072"/>
            <a:ext cx="1816100" cy="1723928"/>
          </a:xfrm>
          <a:prstGeom prst="triangle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B9FBFB77-EB02-E427-D493-C8EB6C3A4F1E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E3F83-A12F-052F-FEE4-78161C878DFA}"/>
              </a:ext>
            </a:extLst>
          </p:cNvPr>
          <p:cNvSpPr txBox="1"/>
          <p:nvPr/>
        </p:nvSpPr>
        <p:spPr>
          <a:xfrm>
            <a:off x="1021976" y="1861663"/>
            <a:ext cx="10432605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Investment Required: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$2.3 Billion (construction + 3 years operations buffer)</a:t>
            </a:r>
            <a:endParaRPr lang="en-US" sz="20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Business Model: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Government-Commercial Hybrid with path to commercialization</a:t>
            </a:r>
            <a:endParaRPr lang="en-US" sz="20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10-Year Financial Outlook: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Requires $150M/year government subsidy initially, potential profitability by Year 8-10 with technology maturation</a:t>
            </a:r>
            <a:endParaRPr lang="en-US" sz="20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Key Innovation: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Modular 3D-expandable architecture with integrated agriculture research capabilities</a:t>
            </a:r>
            <a:endParaRPr lang="en-US" sz="20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Realistic Assessment: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Not immediately profitable, but provides strategic value for NASA's LEO commercialization goals and space agriculture research</a:t>
            </a:r>
            <a:endParaRPr lang="en-US" sz="2000" b="0" dirty="0">
              <a:effectLst/>
            </a:endParaRPr>
          </a:p>
          <a:p>
            <a:pPr>
              <a:buNone/>
            </a:pPr>
            <a:br>
              <a:rPr lang="en-US" sz="2000" b="0" dirty="0">
                <a:effectLst/>
              </a:rPr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94749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C15AE9A-394D-B5E2-624F-7F8D7983BB38}"/>
              </a:ext>
            </a:extLst>
          </p:cNvPr>
          <p:cNvSpPr/>
          <p:nvPr/>
        </p:nvSpPr>
        <p:spPr>
          <a:xfrm>
            <a:off x="5321019" y="48434"/>
            <a:ext cx="1549959" cy="1440005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F10CD5-474A-9CB2-738A-FF512CDF604D}"/>
              </a:ext>
            </a:extLst>
          </p:cNvPr>
          <p:cNvSpPr txBox="1"/>
          <p:nvPr/>
        </p:nvSpPr>
        <p:spPr>
          <a:xfrm>
            <a:off x="5363366" y="503181"/>
            <a:ext cx="1465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CAPEX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A659F-ACA0-2885-9865-87267A0BBF9A}"/>
              </a:ext>
            </a:extLst>
          </p:cNvPr>
          <p:cNvSpPr txBox="1"/>
          <p:nvPr/>
        </p:nvSpPr>
        <p:spPr>
          <a:xfrm>
            <a:off x="462115" y="1206430"/>
            <a:ext cx="5888433" cy="5598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Construction Costs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Launch Costs: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10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Launch vehicle: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Falcon 9 - $67M per launch (2025 pricing)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Launches required: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 launches for complete station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3 launches: Habitat modules (3 modules)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2 launches: Power and life support systems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1 launch: Central hub connector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2 launches: Agriculture module and supplies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Launch: $536M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Hardware &amp; Manufacturing: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1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Core habitat modules (3 units): $600M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Based on Bigelow BEAM and Northrop Grumman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hab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module costs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Central hub connector (novel design): $180M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Agriculture module with aeroponic systems: $120M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Solar arrays (120kW total): $90M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Life support systems (ECLSS): $150M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Docking ports and berthing mechanisms: $80M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Hardware: $1,220M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C8BAE-477F-287B-EE2C-EC960046D197}"/>
              </a:ext>
            </a:extLst>
          </p:cNvPr>
          <p:cNvSpPr txBox="1"/>
          <p:nvPr/>
        </p:nvSpPr>
        <p:spPr>
          <a:xfrm>
            <a:off x="6506308" y="4247841"/>
            <a:ext cx="3242923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Working Capital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Initial operations fund: $80M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Emergency reserves: $40M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Working Capital: $120M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Initial Investment: $2.30 Billion</a:t>
            </a:r>
            <a:endParaRPr lang="en-US" sz="1400" b="0" dirty="0">
              <a:effectLst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br>
              <a:rPr lang="en-US" sz="2000" dirty="0"/>
            </a:b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339E1-FDA2-2709-0D5A-3C356EDBD698}"/>
              </a:ext>
            </a:extLst>
          </p:cNvPr>
          <p:cNvSpPr txBox="1"/>
          <p:nvPr/>
        </p:nvSpPr>
        <p:spPr>
          <a:xfrm>
            <a:off x="6506308" y="1521753"/>
            <a:ext cx="3242926" cy="199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Ground Operations &amp; Integration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400" b="0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Mission control setup: $60M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Integration and testing: $50M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Training facilities: $30M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Ground: $140M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Contingency (15%): $284M</a:t>
            </a:r>
            <a:endParaRPr lang="en-US" sz="1400" b="0" dirty="0">
              <a:effectLst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CAPEX: $2,180M</a:t>
            </a:r>
            <a:endParaRPr lang="en-US" sz="1400" b="0" dirty="0">
              <a:effectLst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DDB4B58-DDE2-2F69-0B6A-456CF1C08B35}"/>
              </a:ext>
            </a:extLst>
          </p:cNvPr>
          <p:cNvSpPr/>
          <p:nvPr/>
        </p:nvSpPr>
        <p:spPr>
          <a:xfrm>
            <a:off x="10760873" y="5481357"/>
            <a:ext cx="1431127" cy="1376641"/>
          </a:xfrm>
          <a:prstGeom prst="triangle">
            <a:avLst>
              <a:gd name="adj" fmla="val 10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1E168A-E47A-49D6-87F2-2EC1E5A1AA7A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6095999" y="1488439"/>
            <a:ext cx="0" cy="5219618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6C4E09D-3D9D-4355-8356-F3F67850F3CA}"/>
              </a:ext>
            </a:extLst>
          </p:cNvPr>
          <p:cNvSpPr/>
          <p:nvPr/>
        </p:nvSpPr>
        <p:spPr>
          <a:xfrm rot="5400000">
            <a:off x="-1423075" y="1421726"/>
            <a:ext cx="3429001" cy="585548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AA23341-BF32-433F-985B-2C7419F353A9}"/>
              </a:ext>
            </a:extLst>
          </p:cNvPr>
          <p:cNvSpPr/>
          <p:nvPr/>
        </p:nvSpPr>
        <p:spPr>
          <a:xfrm rot="5400000">
            <a:off x="-19053" y="19050"/>
            <a:ext cx="1765303" cy="1727201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226FDD0F-A4D3-400F-840E-12FF0D45D2E7}"/>
              </a:ext>
            </a:extLst>
          </p:cNvPr>
          <p:cNvSpPr/>
          <p:nvPr/>
        </p:nvSpPr>
        <p:spPr>
          <a:xfrm rot="5400000">
            <a:off x="1164086" y="-1164085"/>
            <a:ext cx="999229" cy="3327404"/>
          </a:xfrm>
          <a:prstGeom prst="triangle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F1DD1863-AE8F-4B1F-A00F-38DBD68C4D4F}"/>
              </a:ext>
            </a:extLst>
          </p:cNvPr>
          <p:cNvSpPr/>
          <p:nvPr/>
        </p:nvSpPr>
        <p:spPr>
          <a:xfrm>
            <a:off x="-3910" y="6263054"/>
            <a:ext cx="12195910" cy="59494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951804D-7F25-4F4F-AD49-C2A2F14528F8}"/>
              </a:ext>
            </a:extLst>
          </p:cNvPr>
          <p:cNvSpPr/>
          <p:nvPr/>
        </p:nvSpPr>
        <p:spPr>
          <a:xfrm>
            <a:off x="9749236" y="6263054"/>
            <a:ext cx="2442764" cy="594946"/>
          </a:xfrm>
          <a:prstGeom prst="triangle">
            <a:avLst>
              <a:gd name="adj" fmla="val 94281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4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2B45BC-A718-AFB1-4BB1-85EE4F847977}"/>
              </a:ext>
            </a:extLst>
          </p:cNvPr>
          <p:cNvSpPr txBox="1"/>
          <p:nvPr/>
        </p:nvSpPr>
        <p:spPr>
          <a:xfrm>
            <a:off x="3982066" y="262039"/>
            <a:ext cx="4227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28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Revenue Streams</a:t>
            </a:r>
            <a:endParaRPr lang="en-US" sz="2800" b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E27BD-E486-F3D1-7422-4ABEB89CF356}"/>
              </a:ext>
            </a:extLst>
          </p:cNvPr>
          <p:cNvSpPr txBox="1"/>
          <p:nvPr/>
        </p:nvSpPr>
        <p:spPr>
          <a:xfrm>
            <a:off x="510699" y="1111733"/>
            <a:ext cx="5949094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Space Tourism (Primary Revenue)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Pricing Strategy: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Market positioning: Premium orbital experience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Price: $4.5M per person for 10-day stay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Competitive vs Axiom ($55M) and realistic for target market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Capacity &amp; Operations: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Station capacity: 8 persons (4 tourists + 4 crew)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Mission duration: 10 days (7 days on-station + travel)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Turnaround: 4 days between missions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Maximum missions/year: 26 missions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Conservative operations: 16 missions/year (60% capacity)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Annual Tourism Revenue: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16 missions × 4 tourists × $4.5M = $288M per year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Revenue Ramp-Up:</a:t>
            </a:r>
            <a:endParaRPr lang="en-US" sz="1400" b="0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1-2: 8 missions/year (30% capacity) = $144M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3-4: 12 missions/year (45% capacity) = $216M</a:t>
            </a:r>
            <a:endParaRPr lang="en-US" sz="1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5-7: 16 missions/year (60% capacity) = $288M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8+: 18 missions/year (70% capacity) = $324M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FED45-321C-987C-DACF-8193C0923FEA}"/>
              </a:ext>
            </a:extLst>
          </p:cNvPr>
          <p:cNvSpPr txBox="1"/>
          <p:nvPr/>
        </p:nvSpPr>
        <p:spPr>
          <a:xfrm>
            <a:off x="6459793" y="1111733"/>
            <a:ext cx="6096000" cy="392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Government Research Contracts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NASA Partnerships: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Agriculture research (5-year contract): $15M/year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Life support system testing: $8M/year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Crew training and operations: $12M/year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NASA: $35M/year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Space Agencies: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ESA research payloads: $5M/year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JAXA agriculture collaboration: $3M/year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International: $8M/year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Government Revenue: $43M/year</a:t>
            </a:r>
            <a:endParaRPr lang="en-US" sz="1400" b="0" dirty="0">
              <a:effectLst/>
            </a:endParaRP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47D2F6-2A02-FB0A-DA1B-017570D24D91}"/>
              </a:ext>
            </a:extLst>
          </p:cNvPr>
          <p:cNvSpPr/>
          <p:nvPr/>
        </p:nvSpPr>
        <p:spPr>
          <a:xfrm>
            <a:off x="1" y="6538452"/>
            <a:ext cx="12192000" cy="319548"/>
          </a:xfrm>
          <a:prstGeom prst="rect">
            <a:avLst/>
          </a:prstGeom>
          <a:solidFill>
            <a:srgbClr val="2F5597"/>
          </a:solidFill>
          <a:ln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C21ED2-2E6D-4128-8F35-1A8AF418871C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5999" y="977153"/>
            <a:ext cx="2" cy="5561299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A729450-2699-D8CF-EFE1-467534698448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8D81AAE-8105-20F2-F4B8-8F0F37AC5E08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9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4AE205-26AA-7C63-7667-B790390371E5}"/>
              </a:ext>
            </a:extLst>
          </p:cNvPr>
          <p:cNvSpPr txBox="1"/>
          <p:nvPr/>
        </p:nvSpPr>
        <p:spPr>
          <a:xfrm>
            <a:off x="550610" y="1563197"/>
            <a:ext cx="5351541" cy="4752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Space Agriculture Research (Tertiary Revenue)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Production Capabilities: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Fresh produce: 50kg/month (conservative estimate)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Target customers: ISS resupply, future lunar missions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Premium pricing: $5,000/kg (fresh space-grown)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Annual Revenue: 50kg × 12 × $5,000 = $3M/year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Research Licensing: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Aeroponic system patents: $2M/year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Agricultural data licensing: $1M/year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Licensing: $3M/year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Agriculture Revenue: $6M/year</a:t>
            </a:r>
            <a:endParaRPr lang="en-US" sz="1600" b="0" dirty="0">
              <a:effectLst/>
            </a:endParaRP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498A0-6766-E574-EB61-6B0AD418B486}"/>
              </a:ext>
            </a:extLst>
          </p:cNvPr>
          <p:cNvSpPr txBox="1"/>
          <p:nvPr/>
        </p:nvSpPr>
        <p:spPr>
          <a:xfrm>
            <a:off x="6444369" y="1563197"/>
            <a:ext cx="6094324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Total Annual Revenue (Steady State)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5+ Revenue: $337M/year</a:t>
            </a:r>
            <a:endParaRPr lang="en-US" sz="1600" b="0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Tourism: $288M (85%)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Government: $43M (13%)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Agriculture: $6M (2%)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BDAC7-5EDF-4E3B-AF0E-A22339C44EA8}"/>
              </a:ext>
            </a:extLst>
          </p:cNvPr>
          <p:cNvSpPr/>
          <p:nvPr/>
        </p:nvSpPr>
        <p:spPr>
          <a:xfrm>
            <a:off x="1" y="6538452"/>
            <a:ext cx="12192000" cy="319548"/>
          </a:xfrm>
          <a:prstGeom prst="rect">
            <a:avLst/>
          </a:prstGeom>
          <a:solidFill>
            <a:srgbClr val="2F5597"/>
          </a:solidFill>
          <a:ln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EAB4FD-0D6F-4AAA-9C32-B1E99FBB484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095999" y="977153"/>
            <a:ext cx="2" cy="5561299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1A30A2DC-36D7-44E9-7A7F-769E1E71EE97}"/>
              </a:ext>
            </a:extLst>
          </p:cNvPr>
          <p:cNvSpPr/>
          <p:nvPr/>
        </p:nvSpPr>
        <p:spPr>
          <a:xfrm rot="10800000">
            <a:off x="9276735" y="-24730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1060CC17-3806-73A3-002F-C6B3E9FF97D0}"/>
              </a:ext>
            </a:extLst>
          </p:cNvPr>
          <p:cNvSpPr/>
          <p:nvPr/>
        </p:nvSpPr>
        <p:spPr>
          <a:xfrm>
            <a:off x="550610" y="339494"/>
            <a:ext cx="4886629" cy="816876"/>
          </a:xfrm>
          <a:prstGeom prst="parallelogram">
            <a:avLst>
              <a:gd name="adj" fmla="val 619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Revenue Streams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5B04775-1D4F-4B50-E1E0-7559FD78FC78}"/>
              </a:ext>
            </a:extLst>
          </p:cNvPr>
          <p:cNvSpPr/>
          <p:nvPr/>
        </p:nvSpPr>
        <p:spPr>
          <a:xfrm>
            <a:off x="-19665" y="5109344"/>
            <a:ext cx="1816100" cy="1723928"/>
          </a:xfrm>
          <a:prstGeom prst="triangle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98C99C2-8AFE-C78D-E498-134C7703B824}"/>
              </a:ext>
            </a:extLst>
          </p:cNvPr>
          <p:cNvSpPr/>
          <p:nvPr/>
        </p:nvSpPr>
        <p:spPr>
          <a:xfrm rot="10800000">
            <a:off x="10826135" y="-24729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1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7B45A63C-71E1-4FF7-95B2-2279A0E99575}"/>
              </a:ext>
            </a:extLst>
          </p:cNvPr>
          <p:cNvSpPr/>
          <p:nvPr/>
        </p:nvSpPr>
        <p:spPr>
          <a:xfrm rot="5400000">
            <a:off x="-1423075" y="1421726"/>
            <a:ext cx="3429001" cy="585548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4820D87-8753-442A-BC2E-B8962B1979CA}"/>
              </a:ext>
            </a:extLst>
          </p:cNvPr>
          <p:cNvSpPr/>
          <p:nvPr/>
        </p:nvSpPr>
        <p:spPr>
          <a:xfrm rot="5400000">
            <a:off x="-19053" y="19050"/>
            <a:ext cx="1765303" cy="1727201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BF02A-F16F-4A81-8DA0-88C52ECA5E7E}"/>
              </a:ext>
            </a:extLst>
          </p:cNvPr>
          <p:cNvSpPr txBox="1"/>
          <p:nvPr/>
        </p:nvSpPr>
        <p:spPr>
          <a:xfrm>
            <a:off x="5557320" y="537566"/>
            <a:ext cx="1077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2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OPEX</a:t>
            </a:r>
            <a:endParaRPr lang="en-US" sz="2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2784B-0945-9FE1-0209-342EBEE5CC96}"/>
              </a:ext>
            </a:extLst>
          </p:cNvPr>
          <p:cNvSpPr txBox="1"/>
          <p:nvPr/>
        </p:nvSpPr>
        <p:spPr>
          <a:xfrm>
            <a:off x="732631" y="1543553"/>
            <a:ext cx="5137223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Personnel Costs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Flight Crew: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8 permanent astronaut crew: $350k/year each = $2.8M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4 hospitality specialists: $180k/year each = $0.72M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Flight Crew: $3.52M/year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Ground Operations: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Mission control (24/7, shifts): 16 staff × $110k = $1.76M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Engineering &amp; maintenance: 12 staff × $140k = $1.68M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Medical &amp; safety: 6 staff × $130k = $0.78M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Administration, sales, training: 8 staff × $95k = $0.76M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Ground Staff: $4.98M/year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Training Programs: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Tourist pre-flight: $1.2M/year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Crew training: $1.5M/year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Training: $2.7M/year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Personnel: $11.2M/year</a:t>
            </a:r>
            <a:endParaRPr lang="en-US" sz="1400" b="1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1BEB5-445E-689B-47D8-28D4CDC992D1}"/>
              </a:ext>
            </a:extLst>
          </p:cNvPr>
          <p:cNvSpPr txBox="1"/>
          <p:nvPr/>
        </p:nvSpPr>
        <p:spPr>
          <a:xfrm>
            <a:off x="6322145" y="1543553"/>
            <a:ext cx="6263145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Launch &amp; Resupply Operations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Cargo Resupply Missions: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Based on ISS resupply scaled for 8 persons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ISS: ~7,000kg supplies for 6 crew/year = 1,167kg per person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Our station: 8 crew × 1,167kg = 9,336kg/year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Falcon 9 Dragon capacity: 6,000kg to LEO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Required missions: 2 cargo flights/year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Cost per Dragon cargo mission: $150M (SpaceX CRS-2 pricing)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Resupply: $300M/year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Crew Transport: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2 crew rotation missions/year (Dragon)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Cost per crewed Dragon: $55M (NASA Commercial Crew pricing)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Crew Transport: $110M/year</a:t>
            </a: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Launch Operations: $410M/year</a:t>
            </a:r>
            <a:endParaRPr lang="en-US" b="1" dirty="0">
              <a:effectLst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005C88-0FC4-4B3A-8A27-324640FAA279}"/>
              </a:ext>
            </a:extLst>
          </p:cNvPr>
          <p:cNvSpPr/>
          <p:nvPr/>
        </p:nvSpPr>
        <p:spPr>
          <a:xfrm>
            <a:off x="5321019" y="48434"/>
            <a:ext cx="1549959" cy="1440005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384B3-3DDD-4D08-A6F6-8F6D9FED0932}"/>
              </a:ext>
            </a:extLst>
          </p:cNvPr>
          <p:cNvSpPr txBox="1"/>
          <p:nvPr/>
        </p:nvSpPr>
        <p:spPr>
          <a:xfrm>
            <a:off x="5363366" y="501271"/>
            <a:ext cx="1465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O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PEX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51F2009-D1A7-4F14-B68E-1B514CA1840F}"/>
              </a:ext>
            </a:extLst>
          </p:cNvPr>
          <p:cNvSpPr/>
          <p:nvPr/>
        </p:nvSpPr>
        <p:spPr>
          <a:xfrm rot="5400000">
            <a:off x="1164086" y="-1164085"/>
            <a:ext cx="999229" cy="3327404"/>
          </a:xfrm>
          <a:prstGeom prst="triangle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20D399-1451-4977-9098-EFC2D467F00E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6095999" y="1488439"/>
            <a:ext cx="0" cy="5219618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C98309C-7275-4471-A32D-F45B15B89B0B}"/>
              </a:ext>
            </a:extLst>
          </p:cNvPr>
          <p:cNvSpPr/>
          <p:nvPr/>
        </p:nvSpPr>
        <p:spPr>
          <a:xfrm>
            <a:off x="10760873" y="5481357"/>
            <a:ext cx="1431127" cy="1376641"/>
          </a:xfrm>
          <a:prstGeom prst="triangle">
            <a:avLst>
              <a:gd name="adj" fmla="val 10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34A262F4-3EBA-4BD5-AF4E-991905ECB669}"/>
              </a:ext>
            </a:extLst>
          </p:cNvPr>
          <p:cNvSpPr/>
          <p:nvPr/>
        </p:nvSpPr>
        <p:spPr>
          <a:xfrm>
            <a:off x="-3910" y="6263054"/>
            <a:ext cx="12195910" cy="59494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8A446E1-2440-40FF-AE50-8B149BC08FC3}"/>
              </a:ext>
            </a:extLst>
          </p:cNvPr>
          <p:cNvSpPr/>
          <p:nvPr/>
        </p:nvSpPr>
        <p:spPr>
          <a:xfrm>
            <a:off x="9749236" y="6263054"/>
            <a:ext cx="2442764" cy="594946"/>
          </a:xfrm>
          <a:prstGeom prst="triangle">
            <a:avLst>
              <a:gd name="adj" fmla="val 94281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6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BA93554-4F10-4821-9724-55C53B63FF9D}"/>
              </a:ext>
            </a:extLst>
          </p:cNvPr>
          <p:cNvSpPr/>
          <p:nvPr/>
        </p:nvSpPr>
        <p:spPr>
          <a:xfrm>
            <a:off x="5321019" y="48434"/>
            <a:ext cx="1549959" cy="1440005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7BF6E5-26A4-459C-888B-A88956B242FC}"/>
              </a:ext>
            </a:extLst>
          </p:cNvPr>
          <p:cNvSpPr/>
          <p:nvPr/>
        </p:nvSpPr>
        <p:spPr>
          <a:xfrm>
            <a:off x="1" y="6538452"/>
            <a:ext cx="12192000" cy="31954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1B22B0-D621-4C0F-909E-03272DF12CDE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6095999" y="1488439"/>
            <a:ext cx="0" cy="5219618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00C64B3-5595-D371-6FE2-0A796BC3E5D1}"/>
              </a:ext>
            </a:extLst>
          </p:cNvPr>
          <p:cNvSpPr txBox="1"/>
          <p:nvPr/>
        </p:nvSpPr>
        <p:spPr>
          <a:xfrm>
            <a:off x="4326193" y="4151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.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E7B56-7968-C247-D27D-62545EE4C669}"/>
              </a:ext>
            </a:extLst>
          </p:cNvPr>
          <p:cNvSpPr txBox="1"/>
          <p:nvPr/>
        </p:nvSpPr>
        <p:spPr>
          <a:xfrm>
            <a:off x="732630" y="1977003"/>
            <a:ext cx="6096000" cy="393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Station Operations &amp; Maintenance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Utilities &amp; Consumables: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Life support consumables: $6M/year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Power system maintenance: $3M/year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Agriculture supplies &amp; nutrients: $2M/year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Utilities: $11M/year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Maintenance &amp; Repairs: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Scheduled maintenance: $8M/year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Spare parts inventory: $5M/year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Unscheduled repairs reserve: $7M/year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Maintenance: $20M/year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0ACBE-6BD4-0386-0C21-064B177E8127}"/>
              </a:ext>
            </a:extLst>
          </p:cNvPr>
          <p:cNvSpPr txBox="1"/>
          <p:nvPr/>
        </p:nvSpPr>
        <p:spPr>
          <a:xfrm>
            <a:off x="6350128" y="4339136"/>
            <a:ext cx="609600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Insurance &amp; Risk Management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Insurance Premiums: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Liability insurance: $18M/year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Property &amp; equipment: $12M/year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Insurance: $30M/year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C9DC7-013F-1046-5E10-4784CE62A492}"/>
              </a:ext>
            </a:extLst>
          </p:cNvPr>
          <p:cNvSpPr txBox="1"/>
          <p:nvPr/>
        </p:nvSpPr>
        <p:spPr>
          <a:xfrm>
            <a:off x="6350128" y="2016764"/>
            <a:ext cx="6312308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Mission Control &amp; Communications: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Facility operations: $4M/year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Satellite communications: $6M/year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Software &amp; IT systems: $3M/year</a:t>
            </a: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Mission Control: $13M/year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6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Station Operations: $44M/year</a:t>
            </a:r>
            <a:endParaRPr lang="en-US" sz="1600" b="1" dirty="0"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A5F6A9-6A62-4994-9FEA-560F43D8B837}"/>
              </a:ext>
            </a:extLst>
          </p:cNvPr>
          <p:cNvSpPr txBox="1"/>
          <p:nvPr/>
        </p:nvSpPr>
        <p:spPr>
          <a:xfrm>
            <a:off x="5363366" y="501271"/>
            <a:ext cx="1465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O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PEX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8A0BD08-F620-414A-823B-DA0925F09484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AB55DEE-2AFA-4B31-900C-3A6F9F69D7FA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82921D4D-4C37-3818-2747-6AA19DDA596A}"/>
              </a:ext>
            </a:extLst>
          </p:cNvPr>
          <p:cNvSpPr/>
          <p:nvPr/>
        </p:nvSpPr>
        <p:spPr>
          <a:xfrm flipH="1">
            <a:off x="-3910" y="5086344"/>
            <a:ext cx="2442764" cy="1799511"/>
          </a:xfrm>
          <a:prstGeom prst="triangle">
            <a:avLst>
              <a:gd name="adj" fmla="val 99480"/>
            </a:avLst>
          </a:prstGeom>
          <a:solidFill>
            <a:srgbClr val="2F5597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14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A59543-5498-E080-DE7E-950B81C5453B}"/>
              </a:ext>
            </a:extLst>
          </p:cNvPr>
          <p:cNvSpPr txBox="1"/>
          <p:nvPr/>
        </p:nvSpPr>
        <p:spPr>
          <a:xfrm>
            <a:off x="660165" y="2179396"/>
            <a:ext cx="517036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Marketing &amp; Sales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Customer Acquisition: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Digital marketing &amp; PR: $5M/year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Sales team &amp; broker commissions: $8M/year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Events &amp; demonstrations: $3M/year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Marketing: $16M/year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0CE88-E2B8-F9F8-8E58-FF32E854F436}"/>
              </a:ext>
            </a:extLst>
          </p:cNvPr>
          <p:cNvSpPr txBox="1"/>
          <p:nvPr/>
        </p:nvSpPr>
        <p:spPr>
          <a:xfrm>
            <a:off x="6466601" y="2144775"/>
            <a:ext cx="609600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General &amp; Administrative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Corporate Overhead: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Legal &amp; regulatory: $4M/year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Finance &amp; accounting: $2M/year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IT &amp; cybersecurity: $3M/year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Office facilities: $1.5M/year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G&amp;A: $10.5M/year</a:t>
            </a:r>
            <a:endParaRPr lang="en-US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Total Annual OPEX: $521.7M/year</a:t>
            </a:r>
            <a:endParaRPr lang="en-US" b="1" dirty="0">
              <a:effectLst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C72F54-C195-4823-8E16-F301C7E1321D}"/>
              </a:ext>
            </a:extLst>
          </p:cNvPr>
          <p:cNvSpPr/>
          <p:nvPr/>
        </p:nvSpPr>
        <p:spPr>
          <a:xfrm>
            <a:off x="5321019" y="48434"/>
            <a:ext cx="1549959" cy="1440005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473941-A9B8-4633-BDD0-B9034DFF5C89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6095999" y="1488439"/>
            <a:ext cx="0" cy="5219618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D4D2CC-20CD-40C3-9FD7-DB89B6711E59}"/>
              </a:ext>
            </a:extLst>
          </p:cNvPr>
          <p:cNvSpPr txBox="1"/>
          <p:nvPr/>
        </p:nvSpPr>
        <p:spPr>
          <a:xfrm>
            <a:off x="5363366" y="501271"/>
            <a:ext cx="1465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O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PEX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2A8E37C6-5978-4788-A4BD-3C60E81020A1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D80F0531-B4EE-456D-B8F4-00D82ED91B3C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E6ED5098-06A9-4D66-AE70-FB02521E1C73}"/>
              </a:ext>
            </a:extLst>
          </p:cNvPr>
          <p:cNvSpPr/>
          <p:nvPr/>
        </p:nvSpPr>
        <p:spPr>
          <a:xfrm flipH="1">
            <a:off x="-1" y="4762501"/>
            <a:ext cx="1431127" cy="2095498"/>
          </a:xfrm>
          <a:prstGeom prst="triangle">
            <a:avLst>
              <a:gd name="adj" fmla="val 10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DF6FCF-DEA4-4117-8D7C-98786BAC83AC}"/>
              </a:ext>
            </a:extLst>
          </p:cNvPr>
          <p:cNvSpPr/>
          <p:nvPr/>
        </p:nvSpPr>
        <p:spPr>
          <a:xfrm flipH="1">
            <a:off x="0" y="6356728"/>
            <a:ext cx="12195910" cy="5012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FB96625-C063-4140-AC8A-00A22DCD3A78}"/>
              </a:ext>
            </a:extLst>
          </p:cNvPr>
          <p:cNvSpPr/>
          <p:nvPr/>
        </p:nvSpPr>
        <p:spPr>
          <a:xfrm flipH="1">
            <a:off x="-3910" y="5086344"/>
            <a:ext cx="2442764" cy="1799511"/>
          </a:xfrm>
          <a:prstGeom prst="triangle">
            <a:avLst>
              <a:gd name="adj" fmla="val 99480"/>
            </a:avLst>
          </a:prstGeom>
          <a:solidFill>
            <a:srgbClr val="2F5597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04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C74106-FCFE-7489-8258-F3953331127F}"/>
              </a:ext>
            </a:extLst>
          </p:cNvPr>
          <p:cNvSpPr txBox="1"/>
          <p:nvPr/>
        </p:nvSpPr>
        <p:spPr>
          <a:xfrm>
            <a:off x="3047206" y="33009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Financial Projections (10-Year Model)</a:t>
            </a:r>
          </a:p>
          <a:p>
            <a:pPr algn="ctr" rtl="0">
              <a:buNone/>
            </a:pPr>
            <a:endParaRPr lang="en-US" sz="800" b="1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algn="ctr" rtl="0">
              <a:buNone/>
            </a:pPr>
            <a:r>
              <a:rPr lang="en-US" sz="16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Year-by-Year Analysis</a:t>
            </a:r>
            <a:endParaRPr lang="en-US" b="1" dirty="0">
              <a:effectLst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ED5D7A6-02E4-CBF9-8872-7283D99909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003441"/>
              </p:ext>
            </p:extLst>
          </p:nvPr>
        </p:nvGraphicFramePr>
        <p:xfrm>
          <a:off x="4262438" y="2784475"/>
          <a:ext cx="3665537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5255" imgH="1287890" progId="Excel.Sheet.12">
                  <p:embed/>
                </p:oleObj>
              </mc:Choice>
              <mc:Fallback>
                <p:oleObj name="Worksheet" r:id="rId2" imgW="3665255" imgH="128789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62438" y="2784475"/>
                        <a:ext cx="3665537" cy="1287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FDB3CC-B32E-F250-F6C5-B7CE90506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66896"/>
              </p:ext>
            </p:extLst>
          </p:nvPr>
        </p:nvGraphicFramePr>
        <p:xfrm>
          <a:off x="1798414" y="1539266"/>
          <a:ext cx="8593583" cy="4450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33222">
                  <a:extLst>
                    <a:ext uri="{9D8B030D-6E8A-4147-A177-3AD203B41FA5}">
                      <a16:colId xmlns:a16="http://schemas.microsoft.com/office/drawing/2014/main" val="2399084339"/>
                    </a:ext>
                  </a:extLst>
                </a:gridCol>
                <a:gridCol w="1043305">
                  <a:extLst>
                    <a:ext uri="{9D8B030D-6E8A-4147-A177-3AD203B41FA5}">
                      <a16:colId xmlns:a16="http://schemas.microsoft.com/office/drawing/2014/main" val="665257634"/>
                    </a:ext>
                  </a:extLst>
                </a:gridCol>
                <a:gridCol w="1039114">
                  <a:extLst>
                    <a:ext uri="{9D8B030D-6E8A-4147-A177-3AD203B41FA5}">
                      <a16:colId xmlns:a16="http://schemas.microsoft.com/office/drawing/2014/main" val="2557994740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56812395"/>
                    </a:ext>
                  </a:extLst>
                </a:gridCol>
                <a:gridCol w="1136968">
                  <a:extLst>
                    <a:ext uri="{9D8B030D-6E8A-4147-A177-3AD203B41FA5}">
                      <a16:colId xmlns:a16="http://schemas.microsoft.com/office/drawing/2014/main" val="2447874269"/>
                    </a:ext>
                  </a:extLst>
                </a:gridCol>
                <a:gridCol w="1364996">
                  <a:extLst>
                    <a:ext uri="{9D8B030D-6E8A-4147-A177-3AD203B41FA5}">
                      <a16:colId xmlns:a16="http://schemas.microsoft.com/office/drawing/2014/main" val="2087050714"/>
                    </a:ext>
                  </a:extLst>
                </a:gridCol>
                <a:gridCol w="1196848">
                  <a:extLst>
                    <a:ext uri="{9D8B030D-6E8A-4147-A177-3AD203B41FA5}">
                      <a16:colId xmlns:a16="http://schemas.microsoft.com/office/drawing/2014/main" val="3600277315"/>
                    </a:ext>
                  </a:extLst>
                </a:gridCol>
                <a:gridCol w="1285050">
                  <a:extLst>
                    <a:ext uri="{9D8B030D-6E8A-4147-A177-3AD203B41FA5}">
                      <a16:colId xmlns:a16="http://schemas.microsoft.com/office/drawing/2014/main" val="808750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Year</a:t>
                      </a:r>
                      <a:endParaRPr lang="en-US" dirty="0"/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Missions</a:t>
                      </a:r>
                      <a:endParaRPr lang="en-US" dirty="0"/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Revenue</a:t>
                      </a:r>
                      <a:endParaRPr lang="en-US" dirty="0"/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OPEX</a:t>
                      </a:r>
                      <a:endParaRPr lang="en-US" dirty="0"/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EBITDA</a:t>
                      </a:r>
                      <a:endParaRPr lang="en-US" dirty="0"/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Gov Subsidy</a:t>
                      </a:r>
                      <a:endParaRPr lang="en-US" dirty="0"/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Net Result</a:t>
                      </a:r>
                      <a:endParaRPr lang="en-US" dirty="0"/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Cumulative</a:t>
                      </a:r>
                      <a:endParaRPr lang="en-US" dirty="0"/>
                    </a:p>
                  </a:txBody>
                  <a:tcPr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80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-$2,300M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$2,300M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-$2,300M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218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$147M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$522M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-$375M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$375M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-$2,300M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429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$147M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$522M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-$375M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$375M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-$2,300M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52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$219M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$522M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-$303M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$303M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-$2,300M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98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$219M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$522M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-$303M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$250M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-$53M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-$2,353M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209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$291M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$522M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-$231M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$200M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-$31M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-$2,384M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628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$291M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$510M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-$219M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$150M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-$69M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-$2,453M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194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$291M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$510M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-$219M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$150M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-$69M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-$2,522M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061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$327M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$510M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-$183M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$100M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-$83M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-$2,605M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296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$327M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$500M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-$173M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$100M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-$73M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-$2,678M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19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$327M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$500M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-$173M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$50M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-$123M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-$2,801M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054759"/>
                  </a:ext>
                </a:extLst>
              </a:tr>
            </a:tbl>
          </a:graphicData>
        </a:graphic>
      </p:graphicFrame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6A11EB0-65FF-4C50-BA2F-A169D47A20E1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C63D54F-C674-4493-AB84-2491928CA2A2}"/>
              </a:ext>
            </a:extLst>
          </p:cNvPr>
          <p:cNvSpPr/>
          <p:nvPr/>
        </p:nvSpPr>
        <p:spPr>
          <a:xfrm>
            <a:off x="0" y="5134072"/>
            <a:ext cx="1816100" cy="1723928"/>
          </a:xfrm>
          <a:prstGeom prst="triangle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15EA2F6-D298-43D9-98B5-72E99DE392E9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68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465D305-61B4-4610-9140-8D736A707690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24D98CC-62C6-4282-8708-D657A09B2E1B}"/>
              </a:ext>
            </a:extLst>
          </p:cNvPr>
          <p:cNvSpPr/>
          <p:nvPr/>
        </p:nvSpPr>
        <p:spPr>
          <a:xfrm>
            <a:off x="1021976" y="579452"/>
            <a:ext cx="5245100" cy="1008473"/>
          </a:xfrm>
          <a:prstGeom prst="parallelogram">
            <a:avLst>
              <a:gd name="adj" fmla="val 619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7D501-C64B-21EB-E8E3-1946530391D6}"/>
              </a:ext>
            </a:extLst>
          </p:cNvPr>
          <p:cNvSpPr txBox="1"/>
          <p:nvPr/>
        </p:nvSpPr>
        <p:spPr>
          <a:xfrm>
            <a:off x="1021976" y="2113305"/>
            <a:ext cx="10148047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Reality Check: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business model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does not achieve profitability within 10 years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under current technology and pricing assumptions. The station requires ongoing government subsidy.</a:t>
            </a:r>
          </a:p>
          <a:p>
            <a:pPr rtl="0">
              <a:spcBef>
                <a:spcPts val="500"/>
              </a:spcBef>
              <a:spcAft>
                <a:spcPts val="500"/>
              </a:spcAft>
              <a:buNone/>
            </a:pPr>
            <a:endParaRPr lang="en-US" b="0" dirty="0">
              <a:effectLst/>
            </a:endParaRPr>
          </a:p>
          <a:p>
            <a:pPr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Primary Cost Driver: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Launch costs ($410M/year) represent 79% of OPEX. This is the fundamental economic barrier to LEO commercialization.</a:t>
            </a:r>
          </a:p>
          <a:p>
            <a:pPr rtl="0">
              <a:spcBef>
                <a:spcPts val="500"/>
              </a:spcBef>
              <a:spcAft>
                <a:spcPts val="500"/>
              </a:spcAft>
              <a:buNone/>
            </a:pPr>
            <a:endParaRPr lang="en-US" b="0" dirty="0">
              <a:effectLst/>
            </a:endParaRPr>
          </a:p>
          <a:p>
            <a:pPr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Break-Even Requirements: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achieve profitability, one or more of the following must occur:</a:t>
            </a:r>
            <a:endParaRPr lang="en-US" b="0" dirty="0">
              <a:effectLst/>
            </a:endParaRPr>
          </a:p>
          <a:p>
            <a:pPr lvl="1" fontAlgn="base"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Launch costs drop by 70% (Starship at $20M/launch)</a:t>
            </a:r>
          </a:p>
          <a:p>
            <a:pPr lvl="1" fontAlgn="base"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Tourism price increases to $8M+ per person</a:t>
            </a:r>
          </a:p>
          <a:p>
            <a:pPr lvl="1" fontAlgn="base"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Mission capacity increases to 30+ missions/year</a:t>
            </a:r>
          </a:p>
          <a:p>
            <a:pPr lvl="1" fontAlgn="base"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Station capacity expands to 6+ tourists per mission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6368C-183D-47F3-9C8B-A77DE5C896B7}"/>
              </a:ext>
            </a:extLst>
          </p:cNvPr>
          <p:cNvSpPr txBox="1"/>
          <p:nvPr/>
        </p:nvSpPr>
        <p:spPr>
          <a:xfrm>
            <a:off x="1561726" y="760522"/>
            <a:ext cx="416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3600" b="1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Key Observations</a:t>
            </a:r>
            <a:endParaRPr lang="en-US" sz="3200" b="1" i="1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F4C8CD2C-9E6A-46A2-BDFD-BA4157C13792}"/>
              </a:ext>
            </a:extLst>
          </p:cNvPr>
          <p:cNvSpPr/>
          <p:nvPr/>
        </p:nvSpPr>
        <p:spPr>
          <a:xfrm>
            <a:off x="0" y="5134072"/>
            <a:ext cx="1816100" cy="1723928"/>
          </a:xfrm>
          <a:prstGeom prst="triangle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80C508E-5B2F-44CD-8DE3-4F6D7802346C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13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088D4F-0048-2FF6-54F0-9519D8754EBA}"/>
              </a:ext>
            </a:extLst>
          </p:cNvPr>
          <p:cNvSpPr txBox="1"/>
          <p:nvPr/>
        </p:nvSpPr>
        <p:spPr>
          <a:xfrm>
            <a:off x="3047999" y="1181098"/>
            <a:ext cx="7138219" cy="5545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Scenario A: Starship Economics (2027+)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Assumptions: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Starship operational by 2027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Launch cost: $20M per flight (conservative estimate)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Cargo capacity: 100+ tons to LEO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Allows bulk resupply missions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Revised OPEX: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Resupply (2 Starship flights/year): $40M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Crew transport (Dragon): $110M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Other operations: $94M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OPEX: $244M/year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Financial Impact: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5+ Revenue: $337M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OPEX: $244M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EBITDA: +$93M (profitable)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Break-even: Year 6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Government subsidy phases out by Year 8</a:t>
            </a: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6A4E5D77-3DA2-5886-0C8C-26D59FB575F0}"/>
              </a:ext>
            </a:extLst>
          </p:cNvPr>
          <p:cNvSpPr/>
          <p:nvPr/>
        </p:nvSpPr>
        <p:spPr>
          <a:xfrm rot="10800000">
            <a:off x="9257071" y="0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14DD291D-3673-A0AB-FBD2-C5E3AA69810B}"/>
              </a:ext>
            </a:extLst>
          </p:cNvPr>
          <p:cNvSpPr/>
          <p:nvPr/>
        </p:nvSpPr>
        <p:spPr>
          <a:xfrm>
            <a:off x="1700980" y="243628"/>
            <a:ext cx="7674077" cy="778927"/>
          </a:xfrm>
          <a:prstGeom prst="parallelogram">
            <a:avLst>
              <a:gd name="adj" fmla="val 619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00"/>
              </a:spcBef>
              <a:spcAft>
                <a:spcPts val="400"/>
              </a:spcAft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Path to Viability - Technology Scenarios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21253AE-577E-41FB-2765-046B6BB9F2EA}"/>
              </a:ext>
            </a:extLst>
          </p:cNvPr>
          <p:cNvSpPr/>
          <p:nvPr/>
        </p:nvSpPr>
        <p:spPr>
          <a:xfrm>
            <a:off x="-39329" y="5134074"/>
            <a:ext cx="1816100" cy="1723928"/>
          </a:xfrm>
          <a:prstGeom prst="triangle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BD88C36-1403-A176-104C-AA541DCEF639}"/>
              </a:ext>
            </a:extLst>
          </p:cNvPr>
          <p:cNvSpPr/>
          <p:nvPr/>
        </p:nvSpPr>
        <p:spPr>
          <a:xfrm rot="10800000">
            <a:off x="10845800" y="0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314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 10">
            <a:extLst>
              <a:ext uri="{FF2B5EF4-FFF2-40B4-BE49-F238E27FC236}">
                <a16:creationId xmlns:a16="http://schemas.microsoft.com/office/drawing/2014/main" id="{30290921-CFFA-9055-3324-4733A8C721F7}"/>
              </a:ext>
            </a:extLst>
          </p:cNvPr>
          <p:cNvSpPr/>
          <p:nvPr/>
        </p:nvSpPr>
        <p:spPr>
          <a:xfrm>
            <a:off x="2212257" y="425262"/>
            <a:ext cx="8657789" cy="793720"/>
          </a:xfrm>
          <a:prstGeom prst="parallelogram">
            <a:avLst>
              <a:gd name="adj" fmla="val 619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B0854-DF80-7034-B45D-F4D747842899}"/>
              </a:ext>
            </a:extLst>
          </p:cNvPr>
          <p:cNvSpPr txBox="1"/>
          <p:nvPr/>
        </p:nvSpPr>
        <p:spPr>
          <a:xfrm>
            <a:off x="2327457" y="550983"/>
            <a:ext cx="8098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2800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Path to Viability - Technology Scenarios</a:t>
            </a:r>
            <a:endParaRPr lang="en-US" sz="28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AF32B-101F-325B-F7B5-CA6BA3BB5393}"/>
              </a:ext>
            </a:extLst>
          </p:cNvPr>
          <p:cNvSpPr txBox="1"/>
          <p:nvPr/>
        </p:nvSpPr>
        <p:spPr>
          <a:xfrm>
            <a:off x="325331" y="1612952"/>
            <a:ext cx="5845483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Scenario B: ISS Decommissioning Demand (2030+)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Assumptions: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ISS retires 2030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NASA needs LEO presence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Government becomes anchor tenant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Price: $100M/year for guaranteed access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Financial Impact: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Tourism revenue: $288M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Government contracts: $143M ($100M anchor + $43M research)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Revenue: $437M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OPEX: $522M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EBITDA: -$85M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(85% cost recovery)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Requires $85M/year subsidy (vs $375M currently)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C71A0D-6722-7E81-62AD-A1A5DB7EFB3D}"/>
              </a:ext>
            </a:extLst>
          </p:cNvPr>
          <p:cNvSpPr txBox="1"/>
          <p:nvPr/>
        </p:nvSpPr>
        <p:spPr>
          <a:xfrm>
            <a:off x="6617109" y="1613118"/>
            <a:ext cx="557489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Scenario C: Scale &amp; Efficiency (Year 8-10)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Assumptions: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Station expands to 12 capacity (6 tourists)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Advanced ECLSS reduces resupply 30%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Operations optimized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Financial Impact: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 missions × 6 tourists × $4.5M = $540M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Government: $43M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Revenue: $583M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OPEX (reduced): $450M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EBITDA: +$133M (profitable)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267502-83B7-4137-9A64-F1B734EF7C16}"/>
              </a:ext>
            </a:extLst>
          </p:cNvPr>
          <p:cNvCxnSpPr>
            <a:cxnSpLocks/>
          </p:cNvCxnSpPr>
          <p:nvPr/>
        </p:nvCxnSpPr>
        <p:spPr>
          <a:xfrm>
            <a:off x="6095999" y="1488439"/>
            <a:ext cx="0" cy="5219618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1969EEC9-C274-21CA-D4F6-D79A260C9F3F}"/>
              </a:ext>
            </a:extLst>
          </p:cNvPr>
          <p:cNvSpPr/>
          <p:nvPr/>
        </p:nvSpPr>
        <p:spPr>
          <a:xfrm rot="5400000">
            <a:off x="-1419165" y="1421726"/>
            <a:ext cx="3429001" cy="585548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7FC03913-2BDA-9D8A-9642-30E57B6FC6EC}"/>
              </a:ext>
            </a:extLst>
          </p:cNvPr>
          <p:cNvSpPr/>
          <p:nvPr/>
        </p:nvSpPr>
        <p:spPr>
          <a:xfrm rot="5400000">
            <a:off x="-15143" y="19050"/>
            <a:ext cx="1765303" cy="1727201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08D5001-2966-DA20-B385-BF0E6C5E26EE}"/>
              </a:ext>
            </a:extLst>
          </p:cNvPr>
          <p:cNvSpPr/>
          <p:nvPr/>
        </p:nvSpPr>
        <p:spPr>
          <a:xfrm rot="5400000">
            <a:off x="1167996" y="-1164085"/>
            <a:ext cx="999229" cy="3327404"/>
          </a:xfrm>
          <a:prstGeom prst="triangle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54B304FF-4DEC-0336-E1FF-748BD6C6D545}"/>
              </a:ext>
            </a:extLst>
          </p:cNvPr>
          <p:cNvSpPr/>
          <p:nvPr/>
        </p:nvSpPr>
        <p:spPr>
          <a:xfrm>
            <a:off x="0" y="6263054"/>
            <a:ext cx="12195910" cy="59494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8D899C0-937D-3842-D2B7-5AADA94E8D4D}"/>
              </a:ext>
            </a:extLst>
          </p:cNvPr>
          <p:cNvSpPr/>
          <p:nvPr/>
        </p:nvSpPr>
        <p:spPr>
          <a:xfrm>
            <a:off x="9749236" y="6250008"/>
            <a:ext cx="2442764" cy="594946"/>
          </a:xfrm>
          <a:prstGeom prst="triangle">
            <a:avLst>
              <a:gd name="adj" fmla="val 10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00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arallelogram 13">
            <a:extLst>
              <a:ext uri="{FF2B5EF4-FFF2-40B4-BE49-F238E27FC236}">
                <a16:creationId xmlns:a16="http://schemas.microsoft.com/office/drawing/2014/main" id="{DE494EE8-FB22-76BB-F71D-E9F4231307CA}"/>
              </a:ext>
            </a:extLst>
          </p:cNvPr>
          <p:cNvSpPr/>
          <p:nvPr/>
        </p:nvSpPr>
        <p:spPr>
          <a:xfrm>
            <a:off x="2222089" y="152558"/>
            <a:ext cx="7423355" cy="697813"/>
          </a:xfrm>
          <a:prstGeom prst="parallelogram">
            <a:avLst>
              <a:gd name="adj" fmla="val 619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90CDC-688A-B6C1-283E-ADE854C9A817}"/>
              </a:ext>
            </a:extLst>
          </p:cNvPr>
          <p:cNvSpPr txBox="1"/>
          <p:nvPr/>
        </p:nvSpPr>
        <p:spPr>
          <a:xfrm>
            <a:off x="3200400" y="19558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2800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Market Analysis &amp; Competition</a:t>
            </a:r>
            <a:endParaRPr lang="en-US" sz="28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8CA7E0-78C6-557F-8890-76563D16FB3F}"/>
              </a:ext>
            </a:extLst>
          </p:cNvPr>
          <p:cNvSpPr txBox="1"/>
          <p:nvPr/>
        </p:nvSpPr>
        <p:spPr>
          <a:xfrm>
            <a:off x="458430" y="916728"/>
            <a:ext cx="5722373" cy="5791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Realistic Market Assessment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Addressable Market: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Ultra High Net Worth (&gt;$50M net worth): 250,000 globally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Interested in space tourism: ~5% = 12,500 people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Can afford $4.5M experience: ~3,000 people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Willing to fly (annual): ~100-150 people/year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Our Capacity vs Market: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Station capacity: 64 tourist slots/year (16 missions × 4 tourists)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Market size: ~100-150 willing customers/year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Market share target: 40-60% in Year 5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Competitive Reality: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 competing with Virgin/Blue Origin (suborbital ≠ orbital)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Direct competition: Axiom Space, potentially SpaceX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Our advantage: Lower price point ($4.5M vs $55M)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Our disadvantage: No ISS heritage initially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285B0-4D86-23F4-1CCA-BAD5202ED972}"/>
              </a:ext>
            </a:extLst>
          </p:cNvPr>
          <p:cNvSpPr txBox="1"/>
          <p:nvPr/>
        </p:nvSpPr>
        <p:spPr>
          <a:xfrm>
            <a:off x="6486831" y="919056"/>
            <a:ext cx="6120580" cy="508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Customer Acquisition Strategy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1 (Year 1-3): Early Adopters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Target: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Ultra-wealthy adventurers, influencers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Strategy: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Exclusive partnerships, media events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Establish safety record and social proof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2 (Year 4-6): Mainstream UHNW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Target: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Wealthy professionals, entrepreneurs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Strategy: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Word-of-mouth, experiential marketing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Build sustainable customer pipeline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3 (Year 7+): International Expansion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Target: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Asian and Middle Eastern markets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Strategy: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Regional partnerships, localized marketing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Diversify customer base</a:t>
            </a: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br>
              <a:rPr lang="en-US" b="0" dirty="0">
                <a:effectLst/>
              </a:rPr>
            </a:b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14AD66-E353-418E-B610-DD95B158F7BD}"/>
              </a:ext>
            </a:extLst>
          </p:cNvPr>
          <p:cNvCxnSpPr>
            <a:cxnSpLocks/>
          </p:cNvCxnSpPr>
          <p:nvPr/>
        </p:nvCxnSpPr>
        <p:spPr>
          <a:xfrm>
            <a:off x="6095999" y="1488439"/>
            <a:ext cx="0" cy="5219618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8F9DC8D2-281B-917A-CB06-9DFF1C762F7B}"/>
              </a:ext>
            </a:extLst>
          </p:cNvPr>
          <p:cNvSpPr/>
          <p:nvPr/>
        </p:nvSpPr>
        <p:spPr>
          <a:xfrm rot="10800000">
            <a:off x="9296400" y="-1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2947F9C-D25B-953A-096D-5AC5F2507122}"/>
              </a:ext>
            </a:extLst>
          </p:cNvPr>
          <p:cNvSpPr/>
          <p:nvPr/>
        </p:nvSpPr>
        <p:spPr>
          <a:xfrm rot="10800000">
            <a:off x="10845800" y="0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8732289-B71A-D1FB-36A8-3BB63193FC3B}"/>
              </a:ext>
            </a:extLst>
          </p:cNvPr>
          <p:cNvSpPr/>
          <p:nvPr/>
        </p:nvSpPr>
        <p:spPr>
          <a:xfrm>
            <a:off x="9749236" y="6331739"/>
            <a:ext cx="2442764" cy="594946"/>
          </a:xfrm>
          <a:prstGeom prst="triangle">
            <a:avLst>
              <a:gd name="adj" fmla="val 10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05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4F5001-A778-8018-6909-B981F741B907}"/>
              </a:ext>
            </a:extLst>
          </p:cNvPr>
          <p:cNvSpPr txBox="1"/>
          <p:nvPr/>
        </p:nvSpPr>
        <p:spPr>
          <a:xfrm>
            <a:off x="3048000" y="2476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28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Risk Analysis &amp; Mitigation</a:t>
            </a:r>
            <a:endParaRPr lang="en-US" sz="2800" b="1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F478C-19E5-CF50-B882-8E5D4EE44BCE}"/>
              </a:ext>
            </a:extLst>
          </p:cNvPr>
          <p:cNvSpPr txBox="1"/>
          <p:nvPr/>
        </p:nvSpPr>
        <p:spPr>
          <a:xfrm>
            <a:off x="-3478306" y="-1663169"/>
            <a:ext cx="3200399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Technical Risks</a:t>
            </a:r>
            <a:endParaRPr lang="en-US" sz="28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Critical Risk: Life Support Failure</a:t>
            </a:r>
            <a:endParaRPr lang="en-US" sz="2800" b="0" dirty="0">
              <a:effectLst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Probability: Low (NASA-proven technology)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Impact: Catastrophic (loss of crew/tourists)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Mitigation: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Triple-redundant ECLSS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ISS emergency protocols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Crew Dragon on standby</a:t>
            </a:r>
          </a:p>
          <a:p>
            <a:pPr marL="742950" lvl="1" indent="-2857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$40M emergency fund</a:t>
            </a: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6C45C-6992-4BCF-917A-751378A067B5}"/>
              </a:ext>
            </a:extLst>
          </p:cNvPr>
          <p:cNvSpPr txBox="1"/>
          <p:nvPr/>
        </p:nvSpPr>
        <p:spPr>
          <a:xfrm>
            <a:off x="12713447" y="610717"/>
            <a:ext cx="347830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 Risk: Debris Collision</a:t>
            </a:r>
            <a:endParaRPr lang="en-US" sz="2800" b="0" dirty="0">
              <a:effectLst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Probability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Medium (increasing debris environment)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Impact: High (station damage, mission abort)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Mitigation: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Enhanced tracking (SSN coordination)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Maneuverability (ion thrusters)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Whipple shielding on critical modules</a:t>
            </a:r>
          </a:p>
          <a:p>
            <a:pPr marL="742950" lvl="1" indent="-2857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Insurance 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E2F1B-7CED-4B1A-B9F1-433E9867FEFA}"/>
              </a:ext>
            </a:extLst>
          </p:cNvPr>
          <p:cNvSpPr txBox="1"/>
          <p:nvPr/>
        </p:nvSpPr>
        <p:spPr>
          <a:xfrm>
            <a:off x="-3478306" y="2208817"/>
            <a:ext cx="3478306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Medium Risk: Module Docking Failure</a:t>
            </a:r>
            <a:endParaRPr lang="en-US" sz="2800" b="0" dirty="0">
              <a:effectLst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Probability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Low-Medium (novel connector design)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Impact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Medium (delayed expansion, cost overruns)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Mitigation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Extensive ground testing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ISS demonstration mission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Backup berthing mechanisms</a:t>
            </a:r>
          </a:p>
          <a:p>
            <a:pPr marL="742950" lvl="1" indent="-2857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Remote robotics control</a:t>
            </a:r>
            <a:endParaRPr lang="en-US" sz="2800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83D896F-9AE5-4637-A224-75C50EDCF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804358"/>
              </p:ext>
            </p:extLst>
          </p:nvPr>
        </p:nvGraphicFramePr>
        <p:xfrm>
          <a:off x="814294" y="990601"/>
          <a:ext cx="10563412" cy="5078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529">
                  <a:extLst>
                    <a:ext uri="{9D8B030D-6E8A-4147-A177-3AD203B41FA5}">
                      <a16:colId xmlns:a16="http://schemas.microsoft.com/office/drawing/2014/main" val="2394274094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4069010176"/>
                    </a:ext>
                  </a:extLst>
                </a:gridCol>
                <a:gridCol w="2228477">
                  <a:extLst>
                    <a:ext uri="{9D8B030D-6E8A-4147-A177-3AD203B41FA5}">
                      <a16:colId xmlns:a16="http://schemas.microsoft.com/office/drawing/2014/main" val="2534458856"/>
                    </a:ext>
                  </a:extLst>
                </a:gridCol>
                <a:gridCol w="4443506">
                  <a:extLst>
                    <a:ext uri="{9D8B030D-6E8A-4147-A177-3AD203B41FA5}">
                      <a16:colId xmlns:a16="http://schemas.microsoft.com/office/drawing/2014/main" val="3298338822"/>
                    </a:ext>
                  </a:extLst>
                </a:gridCol>
              </a:tblGrid>
              <a:tr h="11083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049488"/>
                  </a:ext>
                </a:extLst>
              </a:tr>
              <a:tr h="15433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Life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Catastrophic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42950" lvl="1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Triple-redundant ECLSS</a:t>
                      </a:r>
                    </a:p>
                    <a:p>
                      <a:pPr marL="742950" lvl="1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ISS emergency protocols</a:t>
                      </a:r>
                    </a:p>
                    <a:p>
                      <a:pPr marL="742950" lvl="1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Crew Dragon on standby</a:t>
                      </a:r>
                    </a:p>
                    <a:p>
                      <a:pPr marL="742950" lvl="1" indent="-285750" rtl="0" fontAlgn="base"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$40M emergency fund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594273"/>
                  </a:ext>
                </a:extLst>
              </a:tr>
              <a:tr h="10503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Module Docking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42950" lvl="1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Extensive ground testing</a:t>
                      </a:r>
                    </a:p>
                    <a:p>
                      <a:pPr marL="742950" lvl="1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ISS demonstration mission</a:t>
                      </a:r>
                    </a:p>
                    <a:p>
                      <a:pPr marL="742950" lvl="1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Backup berthing mechanisms</a:t>
                      </a:r>
                    </a:p>
                    <a:p>
                      <a:pPr marL="742950" lvl="1" indent="-285750" rtl="0" fontAlgn="base"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Remote robotics control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671708"/>
                  </a:ext>
                </a:extLst>
              </a:tr>
              <a:tr h="13601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Debris Collision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Severe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42950" lvl="1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Enhanced tracking (SSN coordination)</a:t>
                      </a:r>
                    </a:p>
                    <a:p>
                      <a:pPr marL="742950" lvl="1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Maneuverability (ion thrusters)</a:t>
                      </a:r>
                    </a:p>
                    <a:p>
                      <a:pPr marL="742950" lvl="1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Whipple shielding on critical modules</a:t>
                      </a:r>
                    </a:p>
                    <a:p>
                      <a:pPr marL="742950" lvl="1" indent="-285750" rtl="0" fontAlgn="base"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Insurance coverage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514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523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560AC-84F2-EA87-CBFF-6814DAE37384}"/>
              </a:ext>
            </a:extLst>
          </p:cNvPr>
          <p:cNvSpPr txBox="1"/>
          <p:nvPr/>
        </p:nvSpPr>
        <p:spPr>
          <a:xfrm>
            <a:off x="322730" y="1979667"/>
            <a:ext cx="3818964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Medium Risk: Competition from Starship Tourism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40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Probability: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 (SpaceX will offer direct flights)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Impact: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Medium (price pressure, differentiation needed)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Mitigation: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Emphasize station amenities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Longer stays (10 days vs 3-5 days)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Agriculture experience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Superior safety record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553B9-4367-25B2-AE2C-37EE776BD5AE}"/>
              </a:ext>
            </a:extLst>
          </p:cNvPr>
          <p:cNvSpPr txBox="1"/>
          <p:nvPr/>
        </p:nvSpPr>
        <p:spPr>
          <a:xfrm>
            <a:off x="3048000" y="19100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32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Risk Assessment &amp; Mitigation</a:t>
            </a:r>
            <a:endParaRPr lang="en-US" sz="3200" b="1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ECF58-51D0-B2BE-2CD5-987BE234610C}"/>
              </a:ext>
            </a:extLst>
          </p:cNvPr>
          <p:cNvSpPr txBox="1"/>
          <p:nvPr/>
        </p:nvSpPr>
        <p:spPr>
          <a:xfrm>
            <a:off x="3048000" y="77577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4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Market Risks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B6CDE-D17D-56A4-5A4A-1E6479E5BC4A}"/>
              </a:ext>
            </a:extLst>
          </p:cNvPr>
          <p:cNvSpPr txBox="1"/>
          <p:nvPr/>
        </p:nvSpPr>
        <p:spPr>
          <a:xfrm>
            <a:off x="4500282" y="1961931"/>
            <a:ext cx="3191436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Medium Risk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Safety Incident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40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Probability: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Low (but non-zero)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Impact: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Catastrophic (market destruction)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Mitigation: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Rigorous safety protocols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Transparent operations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Crisis communication plan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Strong insurance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C8001-DF7E-5DE1-9B60-56DD8D2F0C87}"/>
              </a:ext>
            </a:extLst>
          </p:cNvPr>
          <p:cNvSpPr txBox="1"/>
          <p:nvPr/>
        </p:nvSpPr>
        <p:spPr>
          <a:xfrm>
            <a:off x="8050306" y="1981007"/>
            <a:ext cx="3801035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 Risk: Insufficient Tourism Demand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40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Probability: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Medium (unproven market at this price)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Impact: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 (revenue shortfall)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Mitigation: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Government anchor tenancy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Flexible pricing strategy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Research contract diversification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Marketing investment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4C1C49-A049-8807-E5A0-C757E49C3EDD}"/>
              </a:ext>
            </a:extLst>
          </p:cNvPr>
          <p:cNvCxnSpPr>
            <a:cxnSpLocks/>
          </p:cNvCxnSpPr>
          <p:nvPr/>
        </p:nvCxnSpPr>
        <p:spPr>
          <a:xfrm>
            <a:off x="4240305" y="1371600"/>
            <a:ext cx="0" cy="5210951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C95EDA-A5E6-7C9C-1197-E9E60F5C3553}"/>
              </a:ext>
            </a:extLst>
          </p:cNvPr>
          <p:cNvCxnSpPr>
            <a:cxnSpLocks/>
          </p:cNvCxnSpPr>
          <p:nvPr/>
        </p:nvCxnSpPr>
        <p:spPr>
          <a:xfrm>
            <a:off x="7790328" y="1398494"/>
            <a:ext cx="0" cy="5184057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56FA2298-D516-0399-D202-12256056719C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B815B71-68F7-6D86-9A95-5791470EC095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97E970B1-961C-8C2E-97B5-ADEBA9148FF4}"/>
              </a:ext>
            </a:extLst>
          </p:cNvPr>
          <p:cNvSpPr/>
          <p:nvPr/>
        </p:nvSpPr>
        <p:spPr>
          <a:xfrm flipH="1">
            <a:off x="0" y="6356728"/>
            <a:ext cx="12195910" cy="5012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BD01C27-F98F-A885-5C62-6E12B81F2F88}"/>
              </a:ext>
            </a:extLst>
          </p:cNvPr>
          <p:cNvSpPr/>
          <p:nvPr/>
        </p:nvSpPr>
        <p:spPr>
          <a:xfrm flipH="1">
            <a:off x="-3910" y="5086344"/>
            <a:ext cx="2442764" cy="1799511"/>
          </a:xfrm>
          <a:prstGeom prst="triangle">
            <a:avLst>
              <a:gd name="adj" fmla="val 99480"/>
            </a:avLst>
          </a:prstGeom>
          <a:solidFill>
            <a:srgbClr val="2F5597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00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E4C9C-44A8-D57A-547E-3FCD39E0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8D3D8A6-D65F-CAD1-D954-2B2EB0EE3DC5}"/>
              </a:ext>
            </a:extLst>
          </p:cNvPr>
          <p:cNvSpPr txBox="1"/>
          <p:nvPr/>
        </p:nvSpPr>
        <p:spPr>
          <a:xfrm>
            <a:off x="962331" y="2209243"/>
            <a:ext cx="4748187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Critical Risk: Launch Cost Overruns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320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Probability: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Low (fixed-price contracts)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Impact: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 (budget impact)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Mitigation: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SpaceX fixed-price agreements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15% contingency budget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Phased construction approach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140988-EB3D-E048-AA3B-60E3CEE9E666}"/>
              </a:ext>
            </a:extLst>
          </p:cNvPr>
          <p:cNvSpPr txBox="1"/>
          <p:nvPr/>
        </p:nvSpPr>
        <p:spPr>
          <a:xfrm>
            <a:off x="3048000" y="19100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32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Risk Assessment &amp; Mitigation</a:t>
            </a:r>
            <a:endParaRPr lang="en-US" sz="3200" b="1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E1DDF-A6CE-38A7-655D-500367FF89D3}"/>
              </a:ext>
            </a:extLst>
          </p:cNvPr>
          <p:cNvSpPr txBox="1"/>
          <p:nvPr/>
        </p:nvSpPr>
        <p:spPr>
          <a:xfrm>
            <a:off x="6475446" y="2209242"/>
            <a:ext cx="5337108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 Risk: Government Funding Withdrawal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320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Probability: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Medium (political changes)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Impact: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Catastrophic (project termination)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Mitigation: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Multi-year commitments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Bipartisan support building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partnerships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Private equity co-investment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4B0D9C-4612-B559-028E-AD8D601FB898}"/>
              </a:ext>
            </a:extLst>
          </p:cNvPr>
          <p:cNvCxnSpPr>
            <a:cxnSpLocks/>
          </p:cNvCxnSpPr>
          <p:nvPr/>
        </p:nvCxnSpPr>
        <p:spPr>
          <a:xfrm>
            <a:off x="6095999" y="1532965"/>
            <a:ext cx="0" cy="5175092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E07D76-2238-FF41-DF78-54DBD5B21AE7}"/>
              </a:ext>
            </a:extLst>
          </p:cNvPr>
          <p:cNvSpPr txBox="1"/>
          <p:nvPr/>
        </p:nvSpPr>
        <p:spPr>
          <a:xfrm>
            <a:off x="3048000" y="77577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4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Financial Risks</a:t>
            </a: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7511D7A3-4EB5-D18F-D6CF-E7AF8BDE0FD3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361D4C78-6434-B991-AAFC-0567118A65CC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194CFFBA-3948-F782-C40C-2C2A1E58C437}"/>
              </a:ext>
            </a:extLst>
          </p:cNvPr>
          <p:cNvSpPr/>
          <p:nvPr/>
        </p:nvSpPr>
        <p:spPr>
          <a:xfrm flipH="1">
            <a:off x="0" y="6356728"/>
            <a:ext cx="12195910" cy="5012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576AE04-3B69-A212-4657-09F109C28791}"/>
              </a:ext>
            </a:extLst>
          </p:cNvPr>
          <p:cNvSpPr/>
          <p:nvPr/>
        </p:nvSpPr>
        <p:spPr>
          <a:xfrm flipH="1">
            <a:off x="-3910" y="5086344"/>
            <a:ext cx="2442764" cy="1799511"/>
          </a:xfrm>
          <a:prstGeom prst="triangle">
            <a:avLst>
              <a:gd name="adj" fmla="val 99480"/>
            </a:avLst>
          </a:prstGeom>
          <a:solidFill>
            <a:srgbClr val="2F5597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8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97CAA-4072-8B33-A209-10E598A427FE}"/>
              </a:ext>
            </a:extLst>
          </p:cNvPr>
          <p:cNvSpPr txBox="1"/>
          <p:nvPr/>
        </p:nvSpPr>
        <p:spPr>
          <a:xfrm>
            <a:off x="3048000" y="19100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32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Investment Thesis</a:t>
            </a:r>
            <a:endParaRPr lang="en-US" sz="3200" b="1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31FE3-569E-A279-EDD2-130877092A7C}"/>
              </a:ext>
            </a:extLst>
          </p:cNvPr>
          <p:cNvSpPr txBox="1"/>
          <p:nvPr/>
        </p:nvSpPr>
        <p:spPr>
          <a:xfrm>
            <a:off x="6508091" y="1327320"/>
            <a:ext cx="60960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Honest Risk/Return Profile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2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Conservative Scenario (Current Technology):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Requires $150M/year government subsidy indefinitely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Suitable for: Government partnership, research focus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Return: Strategic value, not financial ROI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Base Scenario (Starship by 2027):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Break-even: Year 6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Subsidy phases out: Year 8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10-Year NPV: $400M (at 8% discount)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IRR: 12%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Suitable for: Patient capital, strategic investors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Optimistic Scenario (Scale + Starship):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Break-even: Year 4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10-Year NPV: $1.2B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IRR: 18%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Suitable for: Aggressive growth investors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12C9A-2B36-B0CD-53EE-51EEFE2A8C07}"/>
              </a:ext>
            </a:extLst>
          </p:cNvPr>
          <p:cNvSpPr txBox="1"/>
          <p:nvPr/>
        </p:nvSpPr>
        <p:spPr>
          <a:xfrm>
            <a:off x="376382" y="1327320"/>
            <a:ext cx="5307526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Why This Project Makes Sense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1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Strategic Value for NASA: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Demonstrates commercial LEO operations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Provides post-ISS LEO presence option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Advances space agriculture research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Lower cost than extending ISS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Technology Innovation: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Novel modular 3D hub architecture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Integrated agriculture systems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Scalable design for future expansion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Pathfinder for Mars habitat tech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Commercial Potential:</a:t>
            </a:r>
            <a:endParaRPr lang="en-US" sz="16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 orbital tourism station at accessible price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Path to profitability with next-gen launch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Diversified revenue streams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Market-leading position in emerging industry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0D6DBD-FC47-4D1D-8D21-EAC18D5E2A87}"/>
              </a:ext>
            </a:extLst>
          </p:cNvPr>
          <p:cNvCxnSpPr>
            <a:cxnSpLocks/>
          </p:cNvCxnSpPr>
          <p:nvPr/>
        </p:nvCxnSpPr>
        <p:spPr>
          <a:xfrm>
            <a:off x="6095999" y="1016000"/>
            <a:ext cx="0" cy="5692057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0AE2AFFB-17E1-A25A-4DDD-346B3C15B481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699EEAC-8599-F340-EE47-DC222DD3DA9E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D44C6C2-C60D-5E68-80BA-F848AFF5B09D}"/>
              </a:ext>
            </a:extLst>
          </p:cNvPr>
          <p:cNvSpPr/>
          <p:nvPr/>
        </p:nvSpPr>
        <p:spPr>
          <a:xfrm rot="5400000">
            <a:off x="1441450" y="-1441450"/>
            <a:ext cx="723902" cy="3606803"/>
          </a:xfrm>
          <a:prstGeom prst="triangle">
            <a:avLst>
              <a:gd name="adj" fmla="val 0"/>
            </a:avLst>
          </a:prstGeom>
          <a:solidFill>
            <a:srgbClr val="2F5597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D844DEC-286F-313E-C754-55F5B93EFDCA}"/>
              </a:ext>
            </a:extLst>
          </p:cNvPr>
          <p:cNvSpPr/>
          <p:nvPr/>
        </p:nvSpPr>
        <p:spPr>
          <a:xfrm flipH="1">
            <a:off x="-3" y="6486222"/>
            <a:ext cx="12192001" cy="371777"/>
          </a:xfrm>
          <a:prstGeom prst="triangle">
            <a:avLst>
              <a:gd name="adj" fmla="val 100000"/>
            </a:avLst>
          </a:prstGeom>
          <a:solidFill>
            <a:srgbClr val="2F5597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83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>
            <a:extLst>
              <a:ext uri="{FF2B5EF4-FFF2-40B4-BE49-F238E27FC236}">
                <a16:creationId xmlns:a16="http://schemas.microsoft.com/office/drawing/2014/main" id="{1F1FB4BF-7071-115C-C4C6-4EA713E11103}"/>
              </a:ext>
            </a:extLst>
          </p:cNvPr>
          <p:cNvSpPr/>
          <p:nvPr/>
        </p:nvSpPr>
        <p:spPr>
          <a:xfrm>
            <a:off x="3603522" y="121408"/>
            <a:ext cx="4984954" cy="894592"/>
          </a:xfrm>
          <a:prstGeom prst="parallelogram">
            <a:avLst>
              <a:gd name="adj" fmla="val 6192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0C1C3A-39D8-01DA-A2DA-32513E9EE02B}"/>
              </a:ext>
            </a:extLst>
          </p:cNvPr>
          <p:cNvSpPr txBox="1"/>
          <p:nvPr/>
        </p:nvSpPr>
        <p:spPr>
          <a:xfrm>
            <a:off x="3047999" y="27631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3200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Funding Strategy</a:t>
            </a:r>
            <a:endParaRPr lang="en-US" sz="32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23AD8-A4FA-0B62-378D-32735E0B9404}"/>
              </a:ext>
            </a:extLst>
          </p:cNvPr>
          <p:cNvSpPr txBox="1"/>
          <p:nvPr/>
        </p:nvSpPr>
        <p:spPr>
          <a:xfrm>
            <a:off x="609600" y="1188720"/>
            <a:ext cx="5176088" cy="561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Recommended Capital Structure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2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1 - Construction ($2.3B):</a:t>
            </a:r>
            <a:endParaRPr lang="en-US" sz="2400" b="1" dirty="0"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NASA partnership (anchor tenant)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$900M (40%)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5-year guaranteed access commitment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Research contracts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Crew training support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Private equity consortium: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$700M (30%)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Space-focused VC funds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Family offices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Strategic investors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Debt financing: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$400M (17%)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Export credit agencies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Commercial banks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partners: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$300M (13%)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ESA, JAXA research partnerships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In-kind contributions</a:t>
            </a:r>
          </a:p>
          <a:p>
            <a:pPr marL="742950" lvl="1" indent="-285750"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2 - Operations:</a:t>
            </a:r>
            <a:endParaRPr lang="en-US" sz="2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Government annual subsidy: $150M-375M/year (declining)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Revenue financing from operations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Operating line of credit: $50M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665FA-3CAB-D001-7378-0A06CBFC1506}"/>
              </a:ext>
            </a:extLst>
          </p:cNvPr>
          <p:cNvSpPr txBox="1"/>
          <p:nvPr/>
        </p:nvSpPr>
        <p:spPr>
          <a:xfrm>
            <a:off x="6406311" y="1188720"/>
            <a:ext cx="6096000" cy="498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Government Partnership Framework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600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NASA Core Commitments: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Agriculture research: $15M/year (5 years)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Crew training facility access: $12M/year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Life support testing: $8M/year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Emergency coordination: $10M/year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Total: $45M/year baseline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Additional NASA Benefits: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Reduced ISS burden (earlier decommissioning)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LEO presence continuity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Commercial space leadership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Space agriculture advancement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Partnerships: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ESA payload hosting: $5M/year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JAXA agriculture research: $3M/year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CSA crew opportunities: $2M/year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International: $10M/year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C6BE22-42B2-4129-992E-058044192F44}"/>
              </a:ext>
            </a:extLst>
          </p:cNvPr>
          <p:cNvCxnSpPr>
            <a:cxnSpLocks/>
          </p:cNvCxnSpPr>
          <p:nvPr/>
        </p:nvCxnSpPr>
        <p:spPr>
          <a:xfrm>
            <a:off x="6095999" y="1016000"/>
            <a:ext cx="0" cy="5692057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B0759AE8-AC58-00BD-1B17-D17161136DC0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C6BBD1D-6926-7AF1-696A-1AB8AC45ABCB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31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203C6B-649E-F7D4-4A7D-7B04C07C9FB3}"/>
              </a:ext>
            </a:extLst>
          </p:cNvPr>
          <p:cNvSpPr txBox="1"/>
          <p:nvPr/>
        </p:nvSpPr>
        <p:spPr>
          <a:xfrm>
            <a:off x="6440128" y="1016000"/>
            <a:ext cx="6096000" cy="4006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Safety Standards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NASA Requirements: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Probability of Loss of Crew: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&lt;1:270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Probability of Loss of Mission: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&lt;1:55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Emergency escape capability: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&lt;24 hours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Our Design Targets: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PLOC: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&lt;1:500 (exceeds NASA standard)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Redundant life support: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Triple systems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Crew Dragon on standby: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Continuous</a:t>
            </a: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1A0F4-4795-EE92-3DD9-5886C7F31CB4}"/>
              </a:ext>
            </a:extLst>
          </p:cNvPr>
          <p:cNvSpPr txBox="1"/>
          <p:nvPr/>
        </p:nvSpPr>
        <p:spPr>
          <a:xfrm>
            <a:off x="540775" y="936343"/>
            <a:ext cx="5348748" cy="551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Required Approvals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FAA Commercial Space License: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Launch operations: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18-24 months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Human spaceflight: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Additional 12 months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Ongoing safety monitoring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NASA Human Rating Certification: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Systems review: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24 months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Safety analysis: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 months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Flight readiness: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 months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timeline: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3.5 years parallel with construction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Treaties:</a:t>
            </a:r>
            <a:endParaRPr lang="en-US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Outer Space Treaty compliance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Liability Convention registration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Debris mitigation guidelines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5291B4-CDE5-4EA4-B3B6-FBF76CBBEF0A}"/>
              </a:ext>
            </a:extLst>
          </p:cNvPr>
          <p:cNvCxnSpPr>
            <a:cxnSpLocks/>
          </p:cNvCxnSpPr>
          <p:nvPr/>
        </p:nvCxnSpPr>
        <p:spPr>
          <a:xfrm>
            <a:off x="6095999" y="1016000"/>
            <a:ext cx="0" cy="5692057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A2C833F-1BA3-4324-9DD8-01EEC4FDACB1}"/>
              </a:ext>
            </a:extLst>
          </p:cNvPr>
          <p:cNvSpPr txBox="1"/>
          <p:nvPr/>
        </p:nvSpPr>
        <p:spPr>
          <a:xfrm>
            <a:off x="3048000" y="20441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32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Regulatory &amp; Compliance</a:t>
            </a:r>
            <a:endParaRPr lang="en-US" sz="3200" b="1" dirty="0">
              <a:effectLst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E2E155AF-F463-7130-6203-597DF6ABDF60}"/>
              </a:ext>
            </a:extLst>
          </p:cNvPr>
          <p:cNvSpPr/>
          <p:nvPr/>
        </p:nvSpPr>
        <p:spPr>
          <a:xfrm rot="10800000">
            <a:off x="9296400" y="-2"/>
            <a:ext cx="2895600" cy="11811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CCE7196-76F0-BD84-2573-3485AA822FD7}"/>
              </a:ext>
            </a:extLst>
          </p:cNvPr>
          <p:cNvSpPr/>
          <p:nvPr/>
        </p:nvSpPr>
        <p:spPr>
          <a:xfrm rot="10800000">
            <a:off x="10845800" y="-1"/>
            <a:ext cx="1346200" cy="3302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DBD0BAD-C7C0-8B27-A626-01645BE48317}"/>
              </a:ext>
            </a:extLst>
          </p:cNvPr>
          <p:cNvSpPr/>
          <p:nvPr/>
        </p:nvSpPr>
        <p:spPr>
          <a:xfrm rot="5400000">
            <a:off x="1441450" y="-1441450"/>
            <a:ext cx="723902" cy="3606803"/>
          </a:xfrm>
          <a:prstGeom prst="triangle">
            <a:avLst>
              <a:gd name="adj" fmla="val 0"/>
            </a:avLst>
          </a:prstGeom>
          <a:solidFill>
            <a:srgbClr val="2F5597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98DDD81-592A-5BE9-1BD6-42F4693F73FF}"/>
              </a:ext>
            </a:extLst>
          </p:cNvPr>
          <p:cNvSpPr/>
          <p:nvPr/>
        </p:nvSpPr>
        <p:spPr>
          <a:xfrm flipH="1">
            <a:off x="-3" y="6486222"/>
            <a:ext cx="12192001" cy="371777"/>
          </a:xfrm>
          <a:prstGeom prst="triangle">
            <a:avLst>
              <a:gd name="adj" fmla="val 100000"/>
            </a:avLst>
          </a:prstGeom>
          <a:solidFill>
            <a:srgbClr val="2F5597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32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8927E44E-A6E5-976E-C93C-6EF103D4A271}"/>
              </a:ext>
            </a:extLst>
          </p:cNvPr>
          <p:cNvGrpSpPr/>
          <p:nvPr/>
        </p:nvGrpSpPr>
        <p:grpSpPr>
          <a:xfrm>
            <a:off x="8893738" y="1991833"/>
            <a:ext cx="2691862" cy="1278653"/>
            <a:chOff x="8099448" y="2043637"/>
            <a:chExt cx="2691862" cy="1278653"/>
          </a:xfrm>
        </p:grpSpPr>
        <p:sp>
          <p:nvSpPr>
            <p:cNvPr id="5" name="Flowchart: Process 4">
              <a:extLst>
                <a:ext uri="{FF2B5EF4-FFF2-40B4-BE49-F238E27FC236}">
                  <a16:creationId xmlns:a16="http://schemas.microsoft.com/office/drawing/2014/main" id="{C664F540-888C-6D87-4D1B-7D066A9B4E9E}"/>
                </a:ext>
              </a:extLst>
            </p:cNvPr>
            <p:cNvSpPr/>
            <p:nvPr/>
          </p:nvSpPr>
          <p:spPr>
            <a:xfrm>
              <a:off x="8099448" y="2043637"/>
              <a:ext cx="2575641" cy="1278653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2338E9-BB90-A35F-616D-5F289FD65BA5}"/>
                </a:ext>
              </a:extLst>
            </p:cNvPr>
            <p:cNvSpPr txBox="1"/>
            <p:nvPr/>
          </p:nvSpPr>
          <p:spPr>
            <a:xfrm>
              <a:off x="8215669" y="2133925"/>
              <a:ext cx="2575641" cy="1118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100"/>
                </a:spcBef>
                <a:spcAft>
                  <a:spcPts val="100"/>
                </a:spcAft>
                <a:buNone/>
              </a:pPr>
              <a:r>
                <a:rPr lang="en-US" sz="1200" b="1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Year 3-4: Launch &amp; Assembly</a:t>
              </a:r>
              <a:endParaRPr lang="en-US" sz="1200" b="1" dirty="0">
                <a:solidFill>
                  <a:schemeClr val="bg1"/>
                </a:solidFill>
                <a:effectLst/>
              </a:endParaRP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8 Falcon 9 launches</a:t>
              </a: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On-orbit assembly</a:t>
              </a: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Systems checkout</a:t>
              </a: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Crew certification</a:t>
              </a:r>
            </a:p>
          </p:txBody>
        </p:sp>
      </p:grp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A245D23C-2C63-FA7B-BC9F-586ADCC5E3D8}"/>
              </a:ext>
            </a:extLst>
          </p:cNvPr>
          <p:cNvSpPr/>
          <p:nvPr/>
        </p:nvSpPr>
        <p:spPr>
          <a:xfrm>
            <a:off x="2729470" y="4573432"/>
            <a:ext cx="2575641" cy="127865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CA1605-A2F4-4BF3-9AB1-506558620DAD}"/>
              </a:ext>
            </a:extLst>
          </p:cNvPr>
          <p:cNvSpPr txBox="1"/>
          <p:nvPr/>
        </p:nvSpPr>
        <p:spPr>
          <a:xfrm>
            <a:off x="2799438" y="4659961"/>
            <a:ext cx="2784897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Year 5-10: Scale &amp; Optimize</a:t>
            </a:r>
            <a:endParaRPr lang="en-US" sz="1200" b="1" dirty="0">
              <a:solidFill>
                <a:schemeClr val="bg1"/>
              </a:solidFill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Increase mission frequency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Expand capacity 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Technology upgrades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Cost optimization</a:t>
            </a:r>
            <a:endParaRPr lang="en-US" sz="1600" b="0" i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1D58EEF-AF2D-39EC-E989-BFD91102D992}"/>
              </a:ext>
            </a:extLst>
          </p:cNvPr>
          <p:cNvSpPr/>
          <p:nvPr/>
        </p:nvSpPr>
        <p:spPr>
          <a:xfrm>
            <a:off x="10414001" y="5295901"/>
            <a:ext cx="1778000" cy="1562100"/>
          </a:xfrm>
          <a:prstGeom prst="triangle">
            <a:avLst>
              <a:gd name="adj" fmla="val 10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1864DE2-76DA-4A55-9FCB-7CC57AA337FA}"/>
              </a:ext>
            </a:extLst>
          </p:cNvPr>
          <p:cNvSpPr/>
          <p:nvPr/>
        </p:nvSpPr>
        <p:spPr>
          <a:xfrm>
            <a:off x="9740899" y="5549899"/>
            <a:ext cx="1562101" cy="1308101"/>
          </a:xfrm>
          <a:prstGeom prst="triangle">
            <a:avLst>
              <a:gd name="adj" fmla="val 100000"/>
            </a:avLst>
          </a:prstGeom>
          <a:solidFill>
            <a:srgbClr val="2F5597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68DC8D2-7727-4F6C-A47A-EA2721D840AC}"/>
              </a:ext>
            </a:extLst>
          </p:cNvPr>
          <p:cNvSpPr/>
          <p:nvPr/>
        </p:nvSpPr>
        <p:spPr>
          <a:xfrm>
            <a:off x="9175748" y="5715001"/>
            <a:ext cx="1358900" cy="1142999"/>
          </a:xfrm>
          <a:prstGeom prst="triangle">
            <a:avLst>
              <a:gd name="adj" fmla="val 100000"/>
            </a:avLst>
          </a:prstGeom>
          <a:solidFill>
            <a:srgbClr val="2F559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6FCA3E-2FD9-461B-B2F3-2A997945A8AB}"/>
              </a:ext>
            </a:extLst>
          </p:cNvPr>
          <p:cNvSpPr/>
          <p:nvPr/>
        </p:nvSpPr>
        <p:spPr>
          <a:xfrm rot="10800000">
            <a:off x="0" y="0"/>
            <a:ext cx="1892300" cy="1163326"/>
          </a:xfrm>
          <a:prstGeom prst="triangle">
            <a:avLst>
              <a:gd name="adj" fmla="val 100000"/>
            </a:avLst>
          </a:prstGeom>
          <a:solidFill>
            <a:srgbClr val="2F559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2AC083F4-16C8-4EB3-90BE-1DB34F9BB80E}"/>
              </a:ext>
            </a:extLst>
          </p:cNvPr>
          <p:cNvSpPr/>
          <p:nvPr/>
        </p:nvSpPr>
        <p:spPr>
          <a:xfrm rot="10800000">
            <a:off x="0" y="-3"/>
            <a:ext cx="12192000" cy="320498"/>
          </a:xfrm>
          <a:prstGeom prst="triangle">
            <a:avLst>
              <a:gd name="adj" fmla="val 100000"/>
            </a:avLst>
          </a:prstGeom>
          <a:solidFill>
            <a:srgbClr val="2F559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DE3E0A1-4E6E-4C71-85D6-D5466DC30E8E}"/>
              </a:ext>
            </a:extLst>
          </p:cNvPr>
          <p:cNvSpPr/>
          <p:nvPr/>
        </p:nvSpPr>
        <p:spPr>
          <a:xfrm rot="10800000" flipV="1">
            <a:off x="-1" y="-4"/>
            <a:ext cx="431802" cy="6858004"/>
          </a:xfrm>
          <a:prstGeom prst="triangle">
            <a:avLst>
              <a:gd name="adj" fmla="val 10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A9CE57-6E62-4406-9803-3DB6FA8E3AAF}"/>
              </a:ext>
            </a:extLst>
          </p:cNvPr>
          <p:cNvSpPr txBox="1"/>
          <p:nvPr/>
        </p:nvSpPr>
        <p:spPr>
          <a:xfrm>
            <a:off x="3048000" y="20441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32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Timeline &amp; Milestones</a:t>
            </a:r>
            <a:endParaRPr lang="en-US" sz="3200" b="1" dirty="0">
              <a:effectLst/>
            </a:endParaRP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0EBD5BCA-A366-DC4B-3134-BB780D884D2D}"/>
              </a:ext>
            </a:extLst>
          </p:cNvPr>
          <p:cNvSpPr/>
          <p:nvPr/>
        </p:nvSpPr>
        <p:spPr>
          <a:xfrm>
            <a:off x="7038954" y="4493234"/>
            <a:ext cx="2575641" cy="127865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C04E71-7E8A-B94D-F2BA-EC54F94DE7C8}"/>
              </a:ext>
            </a:extLst>
          </p:cNvPr>
          <p:cNvSpPr txBox="1"/>
          <p:nvPr/>
        </p:nvSpPr>
        <p:spPr>
          <a:xfrm>
            <a:off x="7275296" y="4645497"/>
            <a:ext cx="2419847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Year 4: Operations Start</a:t>
            </a:r>
            <a:endParaRPr lang="en-US" sz="1200" b="1" dirty="0">
              <a:solidFill>
                <a:schemeClr val="bg1"/>
              </a:solidFill>
              <a:effectLst/>
            </a:endParaRP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First tourist mission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NASA research begins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Agriculture module activation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5DB06B8-BB71-1EDE-F273-76E0C517FDF7}"/>
              </a:ext>
            </a:extLst>
          </p:cNvPr>
          <p:cNvGrpSpPr/>
          <p:nvPr/>
        </p:nvGrpSpPr>
        <p:grpSpPr>
          <a:xfrm>
            <a:off x="1053802" y="1953922"/>
            <a:ext cx="3047660" cy="1278653"/>
            <a:chOff x="539390" y="3371336"/>
            <a:chExt cx="3047660" cy="1278653"/>
          </a:xfrm>
        </p:grpSpPr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B5DBA9A7-4032-DEDC-69DF-BA935D9DC33D}"/>
                </a:ext>
              </a:extLst>
            </p:cNvPr>
            <p:cNvSpPr/>
            <p:nvPr/>
          </p:nvSpPr>
          <p:spPr>
            <a:xfrm>
              <a:off x="539390" y="3371336"/>
              <a:ext cx="2575641" cy="1278653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F4C673-0CA7-0AC6-4D06-E7991B899D85}"/>
                </a:ext>
              </a:extLst>
            </p:cNvPr>
            <p:cNvSpPr txBox="1"/>
            <p:nvPr/>
          </p:nvSpPr>
          <p:spPr>
            <a:xfrm>
              <a:off x="663286" y="3451536"/>
              <a:ext cx="2923764" cy="1118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100"/>
                </a:spcBef>
                <a:spcAft>
                  <a:spcPts val="100"/>
                </a:spcAft>
                <a:buNone/>
              </a:pPr>
              <a:r>
                <a:rPr lang="en-US" sz="1200" b="1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Year 0-1: Design &amp; Funding</a:t>
              </a:r>
              <a:endParaRPr lang="en-US" sz="1200" b="1" dirty="0">
                <a:solidFill>
                  <a:schemeClr val="bg1"/>
                </a:solidFill>
                <a:effectLst/>
              </a:endParaRP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Complete detailed design</a:t>
              </a: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Secure government commitments</a:t>
              </a: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Close private equity round</a:t>
              </a: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Begin regulatory approvals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3030F3A-913D-3FD0-6052-371D0B5704EE}"/>
              </a:ext>
            </a:extLst>
          </p:cNvPr>
          <p:cNvGrpSpPr/>
          <p:nvPr/>
        </p:nvGrpSpPr>
        <p:grpSpPr>
          <a:xfrm>
            <a:off x="4876801" y="1960253"/>
            <a:ext cx="2524306" cy="1278653"/>
            <a:chOff x="4876801" y="1960253"/>
            <a:chExt cx="2524306" cy="1278653"/>
          </a:xfrm>
        </p:grpSpPr>
        <p:sp>
          <p:nvSpPr>
            <p:cNvPr id="8" name="Flowchart: Process 7">
              <a:extLst>
                <a:ext uri="{FF2B5EF4-FFF2-40B4-BE49-F238E27FC236}">
                  <a16:creationId xmlns:a16="http://schemas.microsoft.com/office/drawing/2014/main" id="{9E33053E-B80D-7125-3050-DB318B9B80A6}"/>
                </a:ext>
              </a:extLst>
            </p:cNvPr>
            <p:cNvSpPr/>
            <p:nvPr/>
          </p:nvSpPr>
          <p:spPr>
            <a:xfrm>
              <a:off x="4876801" y="1960253"/>
              <a:ext cx="2524306" cy="1278653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7BEBDA-2B28-3BD1-1D50-C639CC7FEBCE}"/>
                </a:ext>
              </a:extLst>
            </p:cNvPr>
            <p:cNvSpPr txBox="1"/>
            <p:nvPr/>
          </p:nvSpPr>
          <p:spPr>
            <a:xfrm>
              <a:off x="4996315" y="2045106"/>
              <a:ext cx="2404792" cy="11182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100"/>
                </a:spcBef>
                <a:spcAft>
                  <a:spcPts val="100"/>
                </a:spcAft>
                <a:buNone/>
              </a:pPr>
              <a:r>
                <a:rPr lang="en-US" sz="1200" b="1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Year 1-3: Manufacturing</a:t>
              </a:r>
              <a:endParaRPr lang="en-US" sz="1200" b="1" dirty="0">
                <a:solidFill>
                  <a:schemeClr val="bg1"/>
                </a:solidFill>
                <a:effectLst/>
              </a:endParaRP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Module fabrication</a:t>
              </a: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Hub connector production</a:t>
              </a: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Ground systems development</a:t>
              </a:r>
            </a:p>
            <a:p>
              <a:pPr rtl="0" fontAlgn="base"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en-US" sz="1200" b="0" i="0" u="none" strike="noStrike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Crew training program launch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EAA4530-6441-5DC1-9D32-9756283D0469}"/>
              </a:ext>
            </a:extLst>
          </p:cNvPr>
          <p:cNvSpPr txBox="1"/>
          <p:nvPr/>
        </p:nvSpPr>
        <p:spPr>
          <a:xfrm>
            <a:off x="4799692" y="7330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Development Schedule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E68E6233-A8A0-C8AA-A555-27EF01AB8051}"/>
              </a:ext>
            </a:extLst>
          </p:cNvPr>
          <p:cNvSpPr/>
          <p:nvPr/>
        </p:nvSpPr>
        <p:spPr>
          <a:xfrm>
            <a:off x="3785575" y="2419567"/>
            <a:ext cx="986895" cy="369332"/>
          </a:xfrm>
          <a:prstGeom prst="rightArrow">
            <a:avLst>
              <a:gd name="adj1" fmla="val 55325"/>
              <a:gd name="adj2" fmla="val 57986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0C6062D-7F3C-3576-8BC3-8B533E8CC862}"/>
              </a:ext>
            </a:extLst>
          </p:cNvPr>
          <p:cNvSpPr/>
          <p:nvPr/>
        </p:nvSpPr>
        <p:spPr>
          <a:xfrm rot="10800000">
            <a:off x="5541453" y="4957727"/>
            <a:ext cx="1249724" cy="369332"/>
          </a:xfrm>
          <a:prstGeom prst="rightArrow">
            <a:avLst>
              <a:gd name="adj1" fmla="val 60649"/>
              <a:gd name="adj2" fmla="val 84608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F810AAB0-C91B-8B92-19E5-65F4E2243F0A}"/>
              </a:ext>
            </a:extLst>
          </p:cNvPr>
          <p:cNvSpPr/>
          <p:nvPr/>
        </p:nvSpPr>
        <p:spPr>
          <a:xfrm rot="7159276">
            <a:off x="9556697" y="3832338"/>
            <a:ext cx="1249724" cy="369332"/>
          </a:xfrm>
          <a:prstGeom prst="rightArrow">
            <a:avLst>
              <a:gd name="adj1" fmla="val 55325"/>
              <a:gd name="adj2" fmla="val 57986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68024162-D968-7B9D-3877-CCE679E44AFF}"/>
              </a:ext>
            </a:extLst>
          </p:cNvPr>
          <p:cNvSpPr/>
          <p:nvPr/>
        </p:nvSpPr>
        <p:spPr>
          <a:xfrm>
            <a:off x="7682998" y="2356677"/>
            <a:ext cx="986895" cy="369332"/>
          </a:xfrm>
          <a:prstGeom prst="rightArrow">
            <a:avLst>
              <a:gd name="adj1" fmla="val 55325"/>
              <a:gd name="adj2" fmla="val 57986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76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1659D8-F08D-DB74-7A61-C3BDC5874DE9}"/>
              </a:ext>
            </a:extLst>
          </p:cNvPr>
          <p:cNvSpPr txBox="1"/>
          <p:nvPr/>
        </p:nvSpPr>
        <p:spPr>
          <a:xfrm>
            <a:off x="3044722" y="4334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2400" b="1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Conclusion &amp; Recommendation</a:t>
            </a:r>
            <a:endParaRPr lang="en-US" sz="2400" b="1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880E8-B57A-1972-728D-C9DEF8719C38}"/>
              </a:ext>
            </a:extLst>
          </p:cNvPr>
          <p:cNvSpPr txBox="1"/>
          <p:nvPr/>
        </p:nvSpPr>
        <p:spPr>
          <a:xfrm>
            <a:off x="432620" y="1036013"/>
            <a:ext cx="5187051" cy="545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000" b="1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Realistic Assessment</a:t>
            </a: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LEO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AgriTourism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Station represents a strategically valuable but financially challenging opportunity. Under current technology: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sz="1400" b="0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Reality: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 profitable without government support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Requires $150M-375M/year subsidy for 5-7 years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Launch costs are the fundamental barrier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Market size is uncertain but promising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Opportunity: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 commercial orbital tourism station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Novel modular architecture with expansion potential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Critical space agriculture research platform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Path to profitability with next-generation launch vehicles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Risk: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Technology risk: Low (NASA-proven systems)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Market risk: Medium (unproven customer demand)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Financial risk: High (dependent on government support)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Existential risk: Low (strong safety focus)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B6711-C18E-4AB4-9E0B-F1823AE671E4}"/>
              </a:ext>
            </a:extLst>
          </p:cNvPr>
          <p:cNvSpPr txBox="1"/>
          <p:nvPr/>
        </p:nvSpPr>
        <p:spPr>
          <a:xfrm>
            <a:off x="6292645" y="1036013"/>
            <a:ext cx="5696155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Investment Recommendation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endParaRPr lang="en-US" b="1" dirty="0">
              <a:effectLst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Proceed with conditions: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Secure 5-year NASA commitment for $200M+/year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Build with Falcon 9, plan for Starship economics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construction: 3 modules initially, expand if successful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Conservative operations: 12-16 missions/year target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Maintain government focus: Tourism secondary to research</a:t>
            </a:r>
          </a:p>
          <a:p>
            <a:pPr rtl="0" fontAlgn="base">
              <a:spcBef>
                <a:spcPts val="100"/>
              </a:spcBef>
              <a:spcAft>
                <a:spcPts val="100"/>
              </a:spcAft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Success Criteria:</a:t>
            </a:r>
            <a:endParaRPr lang="en-US" sz="1400" b="1" dirty="0">
              <a:effectLst/>
            </a:endParaRP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1-3: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Establish safety record (zero incidents)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4-5: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Demonstrate customer demand (80% booking rate)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6-7: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Achieve cost efficiencies (OPEX reduction 10%)</a:t>
            </a:r>
          </a:p>
          <a:p>
            <a:pPr lvl="1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8-10: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Path to profitability with Starship or scale</a:t>
            </a:r>
          </a:p>
          <a:p>
            <a:pPr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is not a get-rich-quick scheme. This is a long-term strategic investment in the future of space commercialization, with government partnership as the foundation and commercial profitability as the 10+ year goal.</a:t>
            </a:r>
            <a:endParaRPr lang="en-US" sz="1400" b="0" dirty="0">
              <a:effectLst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br>
              <a:rPr lang="en-US" sz="1400" dirty="0"/>
            </a:br>
            <a:endParaRPr lang="en-US" sz="1400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56B815F-E1BD-47E8-7F74-FCB106E1FBDE}"/>
              </a:ext>
            </a:extLst>
          </p:cNvPr>
          <p:cNvSpPr/>
          <p:nvPr/>
        </p:nvSpPr>
        <p:spPr>
          <a:xfrm>
            <a:off x="9093201" y="5422901"/>
            <a:ext cx="3098800" cy="1435100"/>
          </a:xfrm>
          <a:prstGeom prst="triangle">
            <a:avLst>
              <a:gd name="adj" fmla="val 10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67C7BD8-2749-51AB-3F52-A579207C1926}"/>
              </a:ext>
            </a:extLst>
          </p:cNvPr>
          <p:cNvSpPr/>
          <p:nvPr/>
        </p:nvSpPr>
        <p:spPr>
          <a:xfrm rot="10800000">
            <a:off x="8940798" y="-19036"/>
            <a:ext cx="3251199" cy="492423"/>
          </a:xfrm>
          <a:prstGeom prst="triangle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3009FDF-E649-548C-0D46-7A36E916A305}"/>
              </a:ext>
            </a:extLst>
          </p:cNvPr>
          <p:cNvSpPr/>
          <p:nvPr/>
        </p:nvSpPr>
        <p:spPr>
          <a:xfrm rot="5400000">
            <a:off x="1441450" y="-1441450"/>
            <a:ext cx="723902" cy="3606803"/>
          </a:xfrm>
          <a:prstGeom prst="triangle">
            <a:avLst>
              <a:gd name="adj" fmla="val 0"/>
            </a:avLst>
          </a:prstGeom>
          <a:solidFill>
            <a:srgbClr val="2F5597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9258E15-E1D1-4401-B2FD-9CA1B20F8EC8}"/>
              </a:ext>
            </a:extLst>
          </p:cNvPr>
          <p:cNvSpPr/>
          <p:nvPr/>
        </p:nvSpPr>
        <p:spPr>
          <a:xfrm flipH="1">
            <a:off x="-3" y="6486222"/>
            <a:ext cx="12192001" cy="371777"/>
          </a:xfrm>
          <a:prstGeom prst="triangle">
            <a:avLst>
              <a:gd name="adj" fmla="val 100000"/>
            </a:avLst>
          </a:prstGeom>
          <a:solidFill>
            <a:srgbClr val="2F5597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8B07BCE-C417-41AE-AC92-184FCEE520A8}"/>
              </a:ext>
            </a:extLst>
          </p:cNvPr>
          <p:cNvSpPr/>
          <p:nvPr/>
        </p:nvSpPr>
        <p:spPr>
          <a:xfrm rot="10800000">
            <a:off x="11442701" y="103039"/>
            <a:ext cx="749299" cy="3821259"/>
          </a:xfrm>
          <a:prstGeom prst="triangle">
            <a:avLst>
              <a:gd name="adj" fmla="val 0"/>
            </a:avLst>
          </a:prstGeom>
          <a:solidFill>
            <a:srgbClr val="2F5597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ECED639-726B-4484-A121-F1841B13AA09}"/>
              </a:ext>
            </a:extLst>
          </p:cNvPr>
          <p:cNvSpPr/>
          <p:nvPr/>
        </p:nvSpPr>
        <p:spPr>
          <a:xfrm>
            <a:off x="8219766" y="5981698"/>
            <a:ext cx="1841912" cy="876302"/>
          </a:xfrm>
          <a:prstGeom prst="triangle">
            <a:avLst>
              <a:gd name="adj" fmla="val 100000"/>
            </a:avLst>
          </a:prstGeom>
          <a:solidFill>
            <a:srgbClr val="2F5597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2E25FD5-694E-4E01-A3F0-B5CEC0ED67A8}"/>
              </a:ext>
            </a:extLst>
          </p:cNvPr>
          <p:cNvSpPr/>
          <p:nvPr/>
        </p:nvSpPr>
        <p:spPr>
          <a:xfrm>
            <a:off x="7454900" y="6164570"/>
            <a:ext cx="1259210" cy="687558"/>
          </a:xfrm>
          <a:prstGeom prst="triangle">
            <a:avLst>
              <a:gd name="adj" fmla="val 100000"/>
            </a:avLst>
          </a:prstGeom>
          <a:solidFill>
            <a:srgbClr val="2F559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69C58-15A3-4891-909B-802C976AAA4F}"/>
              </a:ext>
            </a:extLst>
          </p:cNvPr>
          <p:cNvCxnSpPr>
            <a:cxnSpLocks/>
            <a:endCxn id="10" idx="1"/>
          </p:cNvCxnSpPr>
          <p:nvPr/>
        </p:nvCxnSpPr>
        <p:spPr>
          <a:xfrm flipH="1">
            <a:off x="6095997" y="1016000"/>
            <a:ext cx="2" cy="5656111"/>
          </a:xfrm>
          <a:prstGeom prst="line">
            <a:avLst/>
          </a:prstGeom>
          <a:ln w="41275">
            <a:solidFill>
              <a:schemeClr val="tx2">
                <a:lumMod val="75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270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3438</Words>
  <Application>Microsoft Office PowerPoint</Application>
  <PresentationFormat>Widescreen</PresentationFormat>
  <Paragraphs>711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Suraiya Sultana</dc:creator>
  <cp:lastModifiedBy>Suraiya Sultana</cp:lastModifiedBy>
  <cp:revision>16</cp:revision>
  <dcterms:created xsi:type="dcterms:W3CDTF">2025-10-02T17:51:08Z</dcterms:created>
  <dcterms:modified xsi:type="dcterms:W3CDTF">2025-10-04T07:22:28Z</dcterms:modified>
</cp:coreProperties>
</file>